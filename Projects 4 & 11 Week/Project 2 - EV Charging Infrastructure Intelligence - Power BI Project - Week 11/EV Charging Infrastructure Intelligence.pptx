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3594"/>
            <a:ext cx="6640830" cy="2011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Urbanist"/>
              </a:rPr>
              <a:t>EV Charging</a:t>
            </a:r>
            <a:r>
              <a:t>
</a:t>
            </a:r>
            <a:r>
              <a:rPr sz="4800" b="1" i="0" u="none">
                <a:solidFill>
                  <a:srgbClr val="F8FAFC"/>
                </a:solidFill>
                <a:latin typeface="Urbanist"/>
              </a:rPr>
              <a:t> Infrastructure</a:t>
            </a:r>
            <a:r>
              <a:t>
</a:t>
            </a:r>
            <a:r>
              <a:rPr sz="4800" b="1" i="0" u="none">
                <a:solidFill>
                  <a:srgbClr val="DEFF9A"/>
                </a:solidFill>
                <a:latin typeface="Urbanist"/>
              </a:rPr>
              <a:t>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815506"/>
            <a:ext cx="6324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Urbanist"/>
              </a:rPr>
              <a:t>Comprehensive Analysis using Power BI, Power Query, and DAX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844206"/>
            <a:ext cx="6324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JetBrains Mono"/>
              </a:rPr>
              <a:t>TEAM MEMBERS: ATHARV MILIND SURYAVANSHI, SHREEDHAR SANJAY KUMBHAR</a:t>
            </a:r>
            <a:r>
              <a:t>
</a:t>
            </a:r>
            <a:r>
              <a:rPr sz="1200" b="0" i="0" u="none">
                <a:solidFill>
                  <a:srgbClr val="64748B"/>
                </a:solidFill>
                <a:latin typeface="JetBrains Mono"/>
              </a:rPr>
              <a:t> TECHNOLOGY: MICROSOFT POWER BI STACK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77653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55807" y="3100387"/>
            <a:ext cx="308038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Urbanist"/>
              </a:rPr>
              <a:t>Project Overview &amp;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567112"/>
            <a:ext cx="1104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Urbanist"/>
              </a:rPr>
              <a:t>This project transforms raw global charging station records into interactive business intelligence. Our goal is to assess infrastructure reliability, operator footprints, and connector standards across 10,000 unique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0750"/>
            <a:ext cx="3492549" cy="3362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90750"/>
            <a:ext cx="3492549" cy="3362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90750"/>
            <a:ext cx="3492549" cy="3362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2581275"/>
            <a:ext cx="3810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3152775"/>
            <a:ext cx="284707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Urbanist"/>
              </a:rPr>
              <a:t>Data Quality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619500"/>
            <a:ext cx="2711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Raw datasets suffer from missing city/state info, inconsistent operator naming (e.g. "chargepoint" vs "Charge Point"), and duplicate records.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0324" y="2581275"/>
            <a:ext cx="333375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40324" y="3152775"/>
            <a:ext cx="284707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Urbanist"/>
              </a:rPr>
              <a:t>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0324" y="3619500"/>
            <a:ext cx="2711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Multiple connector types stored in single delimited fields (e.g. CCS|Type 2) make granular hardware analysis impossible without splitting.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8624" y="2581275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8624" y="3152775"/>
            <a:ext cx="284707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Urbanist"/>
              </a:rPr>
              <a:t>Geographic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3619500"/>
            <a:ext cx="2711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Non-standardized country codes (CA, RU, MY) and invalid coordinates hinder precise map visualizations and regional comparison.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"/>
            <a:ext cx="4990623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PROBLEM STATEMENT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81125" y="2757487"/>
            <a:ext cx="10239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Cleanse &amp; Preprocess: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Standardize country/operator names and handle null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1125" y="3233737"/>
            <a:ext cx="10239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Data Transformation: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Split connector strings and validate geographic coordinates.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1125" y="3709987"/>
            <a:ext cx="10239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Dynamic Modeling: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Develop calculated columns and advanced DAX measures.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1125" y="4186237"/>
            <a:ext cx="10239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Visual Intelligence: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Create a 3-page interactive dashboard (Executive, Infra, Details).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1125" y="4662487"/>
            <a:ext cx="10239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Actionable Insights: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Enable drill-through analysis from macro trends to micro station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1500"/>
            <a:ext cx="4930616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PROJECT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776537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52787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729037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205287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681537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871912"/>
            <a:ext cx="11049000" cy="19050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51520" y="3086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57150">
            <a:solidFill>
              <a:srgbClr val="020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780" y="3505200"/>
            <a:ext cx="208822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DEFF9A"/>
                </a:solidFill>
                <a:latin typeface="Urbanist"/>
              </a:rPr>
              <a:t>Raw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71925"/>
            <a:ext cx="198879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CSV Ingestion (10K Records)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6535" y="3086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57150">
            <a:solidFill>
              <a:srgbClr val="020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6795" y="3505200"/>
            <a:ext cx="208822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DEFF9A"/>
                </a:solidFill>
                <a:latin typeface="Urbanist"/>
              </a:rPr>
              <a:t>Power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6515" y="3971925"/>
            <a:ext cx="198879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Standardization &amp; 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1551" y="3086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57150">
            <a:solidFill>
              <a:srgbClr val="020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51810" y="3505200"/>
            <a:ext cx="208822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DEFF9A"/>
                </a:solidFill>
                <a:latin typeface="Urbanist"/>
              </a:rPr>
              <a:t>DAX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1530" y="3971925"/>
            <a:ext cx="198879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Measures &amp; Calculations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6566" y="3086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57150">
            <a:solidFill>
              <a:srgbClr val="020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6825" y="3505200"/>
            <a:ext cx="208822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DEFF9A"/>
                </a:solidFill>
                <a:latin typeface="Urbanist"/>
              </a:rPr>
              <a:t>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6545" y="3971925"/>
            <a:ext cx="19887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Interactive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1581" y="3086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57150">
            <a:solidFill>
              <a:srgbClr val="020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81841" y="3505200"/>
            <a:ext cx="208822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DEFF9A"/>
                </a:solidFill>
                <a:latin typeface="Urbanist"/>
              </a:rPr>
              <a:t>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560" y="3971925"/>
            <a:ext cx="19887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Stakeholder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71500"/>
            <a:ext cx="5620702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END-TO-END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19325"/>
          <a:ext cx="11048999" cy="349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1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61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Field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Business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1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Station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Primary identifier for localized locations.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61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Country 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Mapped from CA/US to readable Country Names.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1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Num Connectors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Numeric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Foundation for Capacity Categorization (Small/Med/Large).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61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Standardized to Operational / Non-Operational.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61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Coordinates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Geographic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Lat/Lon used for street-level mapping validation.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81300"/>
            <a:ext cx="2258169" cy="19050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29669" y="2781300"/>
            <a:ext cx="1709588" cy="19050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39257" y="2781300"/>
            <a:ext cx="7081242" cy="19050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376612"/>
            <a:ext cx="2258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29669" y="3376612"/>
            <a:ext cx="1709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39257" y="3376612"/>
            <a:ext cx="70812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957637"/>
            <a:ext cx="2258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29669" y="3957637"/>
            <a:ext cx="1709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39257" y="3957637"/>
            <a:ext cx="70812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538662"/>
            <a:ext cx="2258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29669" y="4538662"/>
            <a:ext cx="1709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39257" y="4538662"/>
            <a:ext cx="70812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119687"/>
            <a:ext cx="2258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29669" y="5119687"/>
            <a:ext cx="1709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39257" y="5119687"/>
            <a:ext cx="70812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5700712"/>
            <a:ext cx="2258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29669" y="5700712"/>
            <a:ext cx="1709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39257" y="5700712"/>
            <a:ext cx="70812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2000" y="571500"/>
            <a:ext cx="5630703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DATASET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133475"/>
            <a:ext cx="5200650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POWER QUERY PIPELINE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1125" y="2676525"/>
            <a:ext cx="4143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Replacement: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Null operators replaced with "Unknown Operator".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1125" y="3438525"/>
            <a:ext cx="4143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Standardization: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Regex used to group fragmented names (flo/FLO).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1125" y="4200525"/>
            <a:ext cx="4143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Parsing: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Connector types split by "|" delimiter into distinct 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1125" y="4962525"/>
            <a:ext cx="4143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Formatting: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Date Added converted to uniform datetime formats.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695575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457575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219575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981575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9850"/>
            <a:ext cx="11049000" cy="1933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33925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These measures enable dynamic filtering and high-performance KPI rendering across all dashboard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905125"/>
            <a:ext cx="10458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EFF9A"/>
                </a:solidFill>
                <a:latin typeface="JetBrains Mono"/>
              </a:rPr>
              <a:t>// Station Operational Flag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695700"/>
            <a:ext cx="10458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EFF9A"/>
                </a:solidFill>
                <a:latin typeface="JetBrains Mono"/>
              </a:rPr>
              <a:t>// Operational Stations Count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3305175"/>
            <a:ext cx="104584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095750"/>
            <a:ext cx="104584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776097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CALCULATED INTELLIGENCE (DAX)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332583"/>
            <a:ext cx="5715000" cy="3040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6912"/>
            <a:ext cx="20669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DEFF9A"/>
                </a:solidFill>
                <a:latin typeface="Urbanist"/>
              </a:rPr>
              <a:t>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9425" y="2214562"/>
            <a:ext cx="14478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 SemiBold"/>
              </a:rPr>
              <a:t>Operational</a:t>
            </a:r>
            <a:r>
              <a:t>
</a:t>
            </a:r>
            <a:r>
              <a:rPr sz="2100" b="0" i="0" u="none">
                <a:solidFill>
                  <a:srgbClr val="F8FAFC"/>
                </a:solidFill>
                <a:latin typeface="Urbanist SemiBold"/>
              </a:rPr>
              <a:t>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90912"/>
            <a:ext cx="24860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DEFF9A"/>
                </a:solidFill>
                <a:latin typeface="Urbanist"/>
              </a:rPr>
              <a:t>~10K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8525" y="3738562"/>
            <a:ext cx="18002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 SemiBold"/>
              </a:rPr>
              <a:t>Total Charging</a:t>
            </a:r>
            <a:r>
              <a:t>
</a:t>
            </a:r>
            <a:r>
              <a:rPr sz="2100" b="0" i="0" u="none">
                <a:solidFill>
                  <a:srgbClr val="F8FAFC"/>
                </a:solidFill>
                <a:latin typeface="Urbanist SemiBold"/>
              </a:rPr>
              <a:t> Stations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014912"/>
            <a:ext cx="19240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DEFF9A"/>
                </a:solidFill>
                <a:latin typeface="Urbanist"/>
              </a:rPr>
              <a:t>1.46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6550" y="5262562"/>
            <a:ext cx="19145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 SemiBold"/>
              </a:rPr>
              <a:t>Avg Connectors</a:t>
            </a:r>
            <a:r>
              <a:t>
</a:t>
            </a:r>
            <a:r>
              <a:rPr sz="2100" b="0" i="0" u="none">
                <a:solidFill>
                  <a:srgbClr val="F8FAFC"/>
                </a:solidFill>
                <a:latin typeface="Urbanist SemiBold"/>
              </a:rPr>
              <a:t> Per Station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71500"/>
            <a:ext cx="7780972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EXECUTIVE DASHBOARD 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11049000" cy="4829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38812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Urbanist"/>
              </a:rPr>
              <a:t>Circuit Electrique dominates the network, controlling roughly 20% of the total infrastructure in the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71500"/>
            <a:ext cx="6310788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TOP CHARGING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856" y="1814512"/>
            <a:ext cx="33337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529262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Nearly </a:t>
            </a:r>
            <a:r>
              <a:rPr sz="1500" b="1" i="0" u="none">
                <a:solidFill>
                  <a:srgbClr val="CBD5E1"/>
                </a:solidFill>
                <a:latin typeface="Urbanist"/>
              </a:rPr>
              <a:t>3 out of 4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stations are small-scale deployments, highlighting a decentralized micro-hub strategy across North America.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41318" y="2909887"/>
            <a:ext cx="3933825" cy="214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Small (1 Connector):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7,100 (70.99%)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1318" y="3338512"/>
            <a:ext cx="3933825" cy="214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Medium (2-4 Connectors):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2,800 (27.89%)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1318" y="3767137"/>
            <a:ext cx="3933825" cy="214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Large (5+ Connectors):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100 (1.12%)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41318" y="2909887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41318" y="3338512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41318" y="3767137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4D7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7310913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Urbanist"/>
              </a:rPr>
              <a:t>INFRASTRUCTURE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571500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7500" b="1" i="0" u="none">
                <a:solidFill>
                  <a:srgbClr val="DEFF9A"/>
                </a:solidFill>
                <a:latin typeface="Urbanist"/>
              </a:rPr>
              <a:t>Any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0975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Urbanist"/>
              </a:rPr>
              <a:t>Project Conclusion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24150"/>
            <a:ext cx="11049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JetBrains Mono"/>
              </a:rPr>
              <a:t>Live API Integration | Predictive Demand Modeling | ML-based Failure Forecasts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95675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Thank you for your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508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JetBrains Mono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Atharv Suryavanshi</cp:lastModifiedBy>
  <cp:revision>2</cp:revision>
  <dcterms:created xsi:type="dcterms:W3CDTF">2013-01-27T09:14:16Z</dcterms:created>
  <dcterms:modified xsi:type="dcterms:W3CDTF">2026-08-10T05:43:54Z</dcterms:modified>
  <cp:category/>
</cp:coreProperties>
</file>