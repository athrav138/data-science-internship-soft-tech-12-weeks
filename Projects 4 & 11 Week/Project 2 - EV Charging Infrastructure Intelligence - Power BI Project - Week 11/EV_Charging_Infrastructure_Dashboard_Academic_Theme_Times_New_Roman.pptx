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8"/>
    <p:sldId id="262" r:id="rId9"/>
    <p:sldId id="271" r:id="rId10"/>
    <p:sldId id="263" r:id="rId11"/>
    <p:sldId id="270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1301" y="4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EV Charging Infrastructure Intelligence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Power BI Data Analytics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600200"/>
            <a:ext cx="10058400" cy="3520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1965960"/>
            <a:ext cx="9235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300">
                <a:solidFill>
                  <a:srgbClr val="000000"/>
                </a:solidFill>
                <a:latin typeface="Times New Roman"/>
              </a:defRPr>
            </a:pPr>
            <a:r>
              <a:t>Presented By 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514600"/>
            <a:ext cx="9235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>
                <a:solidFill>
                  <a:srgbClr val="000000"/>
                </a:solidFill>
                <a:latin typeface="Times New Roman"/>
              </a:defRPr>
            </a:pPr>
            <a:r>
              <a:t>Atharv Milind Suryavanshi</a:t>
            </a:r>
          </a:p>
          <a:p>
            <a:pPr algn="ctr">
              <a:defRPr sz="2500">
                <a:solidFill>
                  <a:srgbClr val="000000"/>
                </a:solidFill>
                <a:latin typeface="Times New Roman"/>
              </a:defRPr>
            </a:pPr>
            <a:r>
              <a:t>Shreedhar Sanjay Kumbhar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7208" y="3717488"/>
            <a:ext cx="6574536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Department of Computer Science &amp; Engineering</a:t>
            </a:r>
            <a:br>
              <a:rPr dirty="0"/>
            </a:br>
            <a:r>
              <a:rPr dirty="0"/>
              <a:t>DKTE Society's Yashwantrao Chavan Polytechnic, </a:t>
            </a:r>
            <a:r>
              <a:rPr dirty="0" err="1"/>
              <a:t>Ichalkaranji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" y="4562856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Academic Year: 2026 –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Project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rPr dirty="0"/>
              <a:t>From raw EV station data to an interactive BI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52704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002535"/>
            <a:ext cx="4709160" cy="35661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Analyze EV charging infrastructure across countries, regions and operators.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Clean and standardize raw station data using Power Query.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Create calculated columns and analytical measures using DAX.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Present results through three interactive Power BI pages.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Generate insights for infrastructure and operational analysis.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1" y="152704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1993391"/>
            <a:ext cx="4709160" cy="35661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Raw Dataset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Data Inspection &amp; Cleaning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Power Query Transformation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Calculated Columns &amp; DAX Measures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Dashboard Development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Insights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Dataset &amp; Data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Key steps used to make the dataset analysis-ready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52704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148840"/>
            <a:ext cx="4663440" cy="329184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10,000 original station records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14 original columns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Station, location, operator, status, connector and date information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Multiple countries and geographic regions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1" y="152704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Cleaning &amp; Transformation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88480" y="1984247"/>
            <a:ext cx="4709160" cy="3657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Missing-value handling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Duplicate checking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Column renaming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Text trimming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Country-name standardization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Operator and status standardization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Connector-type transformation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Latitude/longitude validation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Charging capacity categories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Power Query, M Language &amp; DAX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The transformation and calculation layer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435607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Power Query / M Language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975104"/>
            <a:ext cx="4663440" cy="3840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Missing-value handling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Duplicate checks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Text cleaning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Country mapping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Operator cleaning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Status standardization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Connector transformation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Geographic validation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Capacity categorization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258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1" y="1435607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Calculated Columns &amp; Measures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911096"/>
            <a:ext cx="4663440" cy="3840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Station Age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Connector Category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Flag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Connector Capacity Group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Country Region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Total Stations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Stations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Non Operational Stations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Total Connectors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Average Connectors per Station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%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Top Operator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Dashboard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Three pages for overview, comparison and detailed investigation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1" y="1618488"/>
            <a:ext cx="29169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01  Executive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148840"/>
            <a:ext cx="26974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KPIs, country distribution, map, operational status, monthly connectors and capacity.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Interactive navigation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Filters / slicers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Detailed investigation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50876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5112" y="1618488"/>
            <a:ext cx="29169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02  Infrastructure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130552"/>
            <a:ext cx="26974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Operators, regions, connector types, capacity and country/status comparison.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Interactive navigation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Filters / slicers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Detailed investigation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508760"/>
            <a:ext cx="324612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45552" y="1618488"/>
            <a:ext cx="29169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03  Station Details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8724" y="2185416"/>
            <a:ext cx="26974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Station-level records, capacity distribution and regional operational summary.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Interactive navigation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Filters / slicers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Detailed investigation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dirty="0"/>
              <a:t>Page 1: Executive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23544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rPr dirty="0"/>
              <a:t>High-level view of the EV charging infrastructure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103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648" y="1399032"/>
            <a:ext cx="18836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70B8"/>
                </a:solidFill>
                <a:latin typeface="Times New Roman"/>
              </a:defRPr>
            </a:pPr>
            <a:r>
              <a:t>10K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1920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00000"/>
                </a:solidFill>
                <a:latin typeface="Times New Roman"/>
              </a:defRPr>
            </a:pPr>
            <a:r>
              <a:t>Total Stations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7208" y="1234440"/>
            <a:ext cx="2103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16936" y="1399032"/>
            <a:ext cx="18836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70B8"/>
                </a:solidFill>
                <a:latin typeface="Times New Roman"/>
              </a:defRPr>
            </a:pPr>
            <a:r>
              <a:t>9K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1920240"/>
            <a:ext cx="1920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00000"/>
                </a:solidFill>
                <a:latin typeface="Times New Roman"/>
              </a:defRPr>
            </a:pPr>
            <a:r>
              <a:t>Operational Stations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1234440"/>
            <a:ext cx="2103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21224" y="1399032"/>
            <a:ext cx="18836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70B8"/>
                </a:solidFill>
                <a:latin typeface="Times New Roman"/>
              </a:defRPr>
            </a:pPr>
            <a:r>
              <a:t>626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2936" y="1920240"/>
            <a:ext cx="1920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00000"/>
                </a:solidFill>
                <a:latin typeface="Times New Roman"/>
              </a:defRPr>
            </a:pPr>
            <a:r>
              <a:t>Non Operational Stations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15784" y="1234440"/>
            <a:ext cx="2103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25512" y="1399032"/>
            <a:ext cx="18836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70B8"/>
                </a:solidFill>
                <a:latin typeface="Times New Roman"/>
              </a:defRPr>
            </a:pPr>
            <a:r>
              <a:t>93.46%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7224" y="1920240"/>
            <a:ext cx="1920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00000"/>
                </a:solidFill>
                <a:latin typeface="Times New Roman"/>
              </a:defRPr>
            </a:pPr>
            <a:r>
              <a:t>Operational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20072" y="1234440"/>
            <a:ext cx="210312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829800" y="1399032"/>
            <a:ext cx="1883663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70B8"/>
                </a:solidFill>
                <a:latin typeface="Times New Roman"/>
              </a:defRPr>
            </a:pPr>
            <a:r>
              <a:t>14K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1512" y="1920240"/>
            <a:ext cx="1920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00000"/>
                </a:solidFill>
                <a:latin typeface="Times New Roman"/>
              </a:defRPr>
            </a:pPr>
            <a:r>
              <a:t>Total Connectors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2697480"/>
            <a:ext cx="53035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8952" y="280720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Main Visuals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880" y="3172968"/>
            <a:ext cx="4663440" cy="22860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Top 5 Countries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Countries With EV Stations map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Operational vs Non Operational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Connectors by Month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Charging Capacity Category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2697480"/>
            <a:ext cx="5303520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28231" y="2807208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Insights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39127" y="3209544"/>
            <a:ext cx="4663440" cy="22860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Canada: about 3.8K stations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United States: about 2.2K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Operational share: 93.46%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June has about 9.4K connectors in the monthly chart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t>• Geographic distribution is concentrated in selected regions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2D5B4A-A920-657A-BE77-75CD7B67E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A378223-5E7B-E7FF-AB73-BE6756C4CBA4}"/>
              </a:ext>
            </a:extLst>
          </p:cNvPr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F02C22-31A5-9483-7619-0E3DE441AABA}"/>
              </a:ext>
            </a:extLst>
          </p:cNvPr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54CB1C-E27B-F043-A5B3-AC5B526926FF}"/>
              </a:ext>
            </a:extLst>
          </p:cNvPr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3EDC7F-40C4-7598-F5A9-9B284C1A8D7A}"/>
              </a:ext>
            </a:extLst>
          </p:cNvPr>
          <p:cNvSpPr txBox="1"/>
          <p:nvPr/>
        </p:nvSpPr>
        <p:spPr>
          <a:xfrm>
            <a:off x="3820456" y="361188"/>
            <a:ext cx="454804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dirty="0"/>
              <a:t>Page 1: Executive Overview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F7CF2DB-69AE-DAF6-7B6F-6A1965335E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987" y="884408"/>
            <a:ext cx="9336025" cy="526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5350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dirty="0"/>
              <a:t>Page 2: Infrastructure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Comparing operators, regions, connectors and capacity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30352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435607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Operator &amp; Regional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4921" y="1933956"/>
            <a:ext cx="4663440" cy="3840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Average Connectors per Station: 1.46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Top Operator: Circuit Electrique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Circuit Electrique: about 2.0K stations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</a:t>
            </a:r>
            <a:r>
              <a:rPr dirty="0" err="1"/>
              <a:t>Chargepoint</a:t>
            </a:r>
            <a:r>
              <a:rPr dirty="0"/>
              <a:t>: about 1.3K stations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FLO: about 0.7K stations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North America is the dominant region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25880"/>
            <a:ext cx="530352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1" y="1435607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Capacity &amp; Connector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33956"/>
            <a:ext cx="4663440" cy="38404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Small stations: about 70.99%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Medium stations: about 27.89%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Large stations: very small share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Type 1 (J1772) is prominent in connector analysis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Country/status charts enable detailed comparison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73C0-D4E2-BECD-307E-92393A20F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4B224D-3DA1-5E8F-17BE-9AAAEDC24C08}"/>
              </a:ext>
            </a:extLst>
          </p:cNvPr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5952A4-DAC8-A465-C00A-F0F4452B7B20}"/>
              </a:ext>
            </a:extLst>
          </p:cNvPr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6D898C-2F6E-2FA5-1B06-7C8903148E32}"/>
              </a:ext>
            </a:extLst>
          </p:cNvPr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536707-C50B-F3DF-B53B-A8927ABD55FD}"/>
              </a:ext>
            </a:extLst>
          </p:cNvPr>
          <p:cNvSpPr txBox="1"/>
          <p:nvPr/>
        </p:nvSpPr>
        <p:spPr>
          <a:xfrm>
            <a:off x="3469616" y="230649"/>
            <a:ext cx="497540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lang="en-IN" dirty="0"/>
              <a:t>Page 2: Infrastructure Analysis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DDEE50-5AEC-FFDC-42EA-314655C85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16" y="795017"/>
            <a:ext cx="9546336" cy="5433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67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0906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dirty="0"/>
              <a:t>Page 3: Station Details &amp; </a:t>
            </a:r>
            <a:r>
              <a:rPr dirty="0" err="1"/>
              <a:t>Drillthrough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70560" y="962406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From aggregate results to station-level investigation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39496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435607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Station-Level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1842516"/>
            <a:ext cx="4709160" cy="347472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Station ID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Country Name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Charging Operator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Total Connectors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Flag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Detailed station records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Charging capacity distribution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25880"/>
            <a:ext cx="530352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1" y="1435607"/>
            <a:ext cx="497433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Regional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874520"/>
            <a:ext cx="4425696" cy="197746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North America: 6,092 total; 5,828 operational; 264 non-operational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Europe: 2,017 total; 1,792 operational; 225 non-operational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Asia: 782 total; 701 operational; 81 non-operational</a:t>
            </a:r>
          </a:p>
          <a:p>
            <a:pPr>
              <a:spcAft>
                <a:spcPts val="700"/>
              </a:spcAft>
              <a:defRPr sz="15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South America: 199 total; 173 operational; 26 non-operational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08C248-C76E-E777-F2DB-AEA79C526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E68C2E-FE4D-91FA-DA0B-BCDFF02831B3}"/>
              </a:ext>
            </a:extLst>
          </p:cNvPr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A0D72D-ECF4-DD77-9334-EBE9FB36D40F}"/>
              </a:ext>
            </a:extLst>
          </p:cNvPr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08DCAB-A647-F20E-9FDF-DEBE0D513F10}"/>
              </a:ext>
            </a:extLst>
          </p:cNvPr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850BC7-758D-1FC5-9181-61A50037B79F}"/>
              </a:ext>
            </a:extLst>
          </p:cNvPr>
          <p:cNvSpPr txBox="1"/>
          <p:nvPr/>
        </p:nvSpPr>
        <p:spPr>
          <a:xfrm>
            <a:off x="2961174" y="192930"/>
            <a:ext cx="607563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lang="en-US" dirty="0"/>
              <a:t>Page 3: Station Details &amp; </a:t>
            </a:r>
            <a:r>
              <a:rPr lang="en-US" dirty="0" err="1"/>
              <a:t>Drillthrough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A5CA26-9FBB-7F03-D71C-F9EF615E5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3" y="729866"/>
            <a:ext cx="9701784" cy="5523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3795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7472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rPr dirty="0"/>
              <a:t>Key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80" y="850392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rPr dirty="0"/>
              <a:t>Major findings from the completed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234440"/>
            <a:ext cx="109728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38988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5331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High operational availability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353312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0000"/>
                </a:solidFill>
                <a:latin typeface="Times New Roman"/>
              </a:defRPr>
            </a:pPr>
            <a:r>
              <a:t>93.46% of stations are reported as operational.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194560"/>
            <a:ext cx="109728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35000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31343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North America dominates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313432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0000"/>
                </a:solidFill>
                <a:latin typeface="Times New Roman"/>
              </a:defRPr>
            </a:pPr>
            <a:r>
              <a:t>6,092 stations are shown in the regional summary.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154680"/>
            <a:ext cx="109728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3101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27355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Canada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273552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0000"/>
                </a:solidFill>
                <a:latin typeface="Times New Roman"/>
              </a:defRPr>
            </a:pPr>
            <a:r>
              <a:t>About 3.8K stations in the Top 5 country chart.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114800"/>
            <a:ext cx="109728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27024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423367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Operator concentration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233672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0000"/>
                </a:solidFill>
                <a:latin typeface="Times New Roman"/>
              </a:defRPr>
            </a:pPr>
            <a:r>
              <a:t>Circuit Electrique is the leading displayed operator at about 2.0K stations.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074920"/>
            <a:ext cx="109728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523036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5193792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Times New Roman"/>
              </a:defRPr>
            </a:pPr>
            <a:r>
              <a:t>Small stations dominate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193792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0000"/>
                </a:solidFill>
                <a:latin typeface="Times New Roman"/>
              </a:defRPr>
            </a:pPr>
            <a:r>
              <a:t>Small capacity represents about 70.99% of stations.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Data Consistency 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A validation point identified from the completed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52120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5153" y="1435607"/>
            <a:ext cx="488289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rPr dirty="0"/>
              <a:t>Executive Overview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40" y="2039111"/>
            <a:ext cx="4572000" cy="292608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Total Stations: 10K</a:t>
            </a:r>
          </a:p>
          <a:p>
            <a:pPr>
              <a:spcAft>
                <a:spcPts val="7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Stations: 9K</a:t>
            </a:r>
          </a:p>
          <a:p>
            <a:pPr>
              <a:spcAft>
                <a:spcPts val="7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Non Operational Stations: 626</a:t>
            </a:r>
          </a:p>
          <a:p>
            <a:pPr>
              <a:spcAft>
                <a:spcPts val="7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 %: 93.46%</a:t>
            </a:r>
          </a:p>
          <a:p>
            <a:pPr>
              <a:spcAft>
                <a:spcPts val="700"/>
              </a:spcAft>
              <a:defRPr sz="18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Total Connectors: 14K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36792" y="1435607"/>
            <a:ext cx="50200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Station Details Regional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3407" y="2057399"/>
            <a:ext cx="4663440" cy="32004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Regional total: 9,570 stations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Operational: 8,944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Non Operational: 626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non-operational count matches the overview.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total differs from the 10K headline, so filter/context consistency should be checked.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Business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How the dashboard supports analysis and decision-making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3520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52704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Infrastructure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29260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Compare countries and regions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Analyze capacity distribution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Identify areas for further investigation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17320"/>
            <a:ext cx="3520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07992" y="152704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Operator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874519"/>
            <a:ext cx="29260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Compare operator station counts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Understand operator concentration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Identify unknown operator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5204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57031" y="1527048"/>
            <a:ext cx="319125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Operational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1874519"/>
            <a:ext cx="2926080" cy="31089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Monitor operational status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Compare regional performance</a:t>
            </a:r>
          </a:p>
          <a:p>
            <a:pPr>
              <a:spcAft>
                <a:spcPts val="700"/>
              </a:spcAft>
              <a:defRPr sz="1600">
                <a:solidFill>
                  <a:srgbClr val="000000"/>
                </a:solidFill>
                <a:latin typeface="Times New Roman"/>
              </a:defRPr>
            </a:pPr>
            <a:r>
              <a:t>• Investigate station-level records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Potential extensions beyond the current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53949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435607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Advanced 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4709160" cy="374903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Real-time charging station APIs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Charging power and AC/DC analysis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EV registrations and population integration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Predictive charging-demand analysis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Geographic optimization for new locations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539496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36792" y="1435607"/>
            <a:ext cx="506577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70B8"/>
                </a:solidFill>
                <a:latin typeface="Times New Roman"/>
              </a:defRPr>
            </a:pPr>
            <a:r>
              <a:t>Dashboard Enhancements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783080"/>
            <a:ext cx="4709160" cy="3749039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Automated refresh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Station utilization and availability trends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Distance-to-nearest-station analysis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Operator reliability and growth analysis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t>• Infrastructure expansion recommendations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01168" y="137160"/>
            <a:ext cx="11786616" cy="6537960"/>
          </a:xfrm>
          <a:prstGeom prst="rect">
            <a:avLst/>
          </a:prstGeom>
          <a:noFill/>
          <a:ln w="1143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01168" y="6336792"/>
            <a:ext cx="11786616" cy="338328"/>
          </a:xfrm>
          <a:prstGeom prst="rect">
            <a:avLst/>
          </a:prstGeom>
          <a:solidFill>
            <a:srgbClr val="0070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321040" y="6419088"/>
            <a:ext cx="32004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Times New Roman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0000"/>
                </a:solidFill>
                <a:latin typeface="Times New Roman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05050"/>
                </a:solidFill>
                <a:latin typeface="Times New Roman"/>
              </a:defRPr>
            </a:pPr>
            <a:r>
              <a:t>Summary of the completed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25880"/>
            <a:ext cx="108356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0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280160" y="1970532"/>
            <a:ext cx="9966960" cy="356616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project transforms raw EV charging station data into an interactive Power BI intelligence dashboard.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Power Query and M Language clean, standardize and transform the dataset.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DAX calculated columns and measures create meaningful analytical indicators.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three pages provide executive overview, infrastructure comparison and station-level investigation.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dashboard highlights high operational availability, strong North American concentration, Canada as the leading displayed country, Circuit Electrique as the leading displayed operator, and dominance of small stations.</a:t>
            </a:r>
          </a:p>
          <a:p>
            <a:pPr>
              <a:spcAft>
                <a:spcPts val="700"/>
              </a:spcAft>
              <a:defRPr sz="1700">
                <a:solidFill>
                  <a:srgbClr val="000000"/>
                </a:solidFill>
                <a:latin typeface="Times New Roman"/>
              </a:defRPr>
            </a:pPr>
            <a:r>
              <a:rPr dirty="0"/>
              <a:t>• The solution provides a foundation for future real-time, predictive and geographic EV infrastructure analytics.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89320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70B8"/>
                </a:solidFill>
                <a:latin typeface="Times New Roman"/>
              </a:defRPr>
            </a:pPr>
            <a:r>
              <a:rPr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1089</Words>
  <Application>Microsoft Office PowerPoint</Application>
  <PresentationFormat>Widescreen</PresentationFormat>
  <Paragraphs>222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Atharv Suryavanshi</cp:lastModifiedBy>
  <cp:revision>6</cp:revision>
  <dcterms:created xsi:type="dcterms:W3CDTF">2013-01-27T09:14:16Z</dcterms:created>
  <dcterms:modified xsi:type="dcterms:W3CDTF">2026-08-12T05:06:31Z</dcterms:modified>
  <cp:category/>
</cp:coreProperties>
</file>