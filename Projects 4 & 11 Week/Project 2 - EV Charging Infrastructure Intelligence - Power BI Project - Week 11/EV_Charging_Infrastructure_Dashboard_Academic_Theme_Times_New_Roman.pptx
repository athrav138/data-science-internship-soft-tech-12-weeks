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71" r:id="rId10"/>
    <p:sldId id="263" r:id="rId11"/>
    <p:sldId id="270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EV Charging Infrastructure Intelligence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Power BI Data Analytics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00200"/>
            <a:ext cx="100584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1965960"/>
            <a:ext cx="9235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000000"/>
                </a:solidFill>
                <a:latin typeface="Times New Roman"/>
              </a:defRPr>
            </a:pPr>
            <a:r>
              <a:t>Presented By 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514600"/>
            <a:ext cx="9235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>
                <a:solidFill>
                  <a:srgbClr val="000000"/>
                </a:solidFill>
                <a:latin typeface="Times New Roman"/>
              </a:defRPr>
            </a:pPr>
            <a:r>
              <a:t>Atharv Milind Suryavanshi</a:t>
            </a:r>
          </a:p>
          <a:p>
            <a:pPr algn="ctr">
              <a:defRPr sz="2500">
                <a:solidFill>
                  <a:srgbClr val="000000"/>
                </a:solidFill>
                <a:latin typeface="Times New Roman"/>
              </a:defRPr>
            </a:pPr>
            <a:r>
              <a:t>Shreedhar Sanjay Kumbhar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8046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Department of Computer Science &amp; Engineering</a:t>
            </a:r>
            <a:br>
              <a:rPr dirty="0"/>
            </a:br>
            <a:r>
              <a:rPr dirty="0"/>
              <a:t>DKTE Society's Yashwantrao Chavan Polytechnic, </a:t>
            </a:r>
            <a:r>
              <a:rPr dirty="0" err="1"/>
              <a:t>Ichalkaranji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" y="4562856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Academic Year: 2026 –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rPr dirty="0"/>
              <a:t>From raw EV station data to an interactive BI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52704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002535"/>
            <a:ext cx="4709160" cy="35661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Analyze EV charging infrastructure across countries, regions and operators.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Clean and standardize raw station data using Power Query.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Create calculated columns and analytical measures using DAX.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Present results through three interactive Power BI pages.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Generate insights for infrastructure and operational analysis.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52704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1993391"/>
            <a:ext cx="4709160" cy="35661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Raw Dataset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Data Inspection &amp; Cleaning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Power Query Transformation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Calculated Columns &amp; DAX Measures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Dashboard Development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Insights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Dataset &amp; Data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Key steps used to make the dataset analysis-ready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52704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148840"/>
            <a:ext cx="4663440" cy="32918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10,000 original station records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14 original columns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Station, location, operator, status, connector and date information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Multiple countries and geographic regions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52704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Cleaning &amp; Transformation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88480" y="1984247"/>
            <a:ext cx="470916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Missing-value handling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Duplicate checking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Column renaming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Text trimming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Country-name standardization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Operator and status standardization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Connector-type transformation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Latitude/longitude validation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Charging capacity categories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Power Query, M Language &amp; DAX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The transformation and calculation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Power Query / M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975104"/>
            <a:ext cx="466344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Missing-value handling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Duplicate checks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Text cleaning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 mapping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Operator cleaning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Status standardization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Connector transformation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Geographic validation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Capacity categorization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Calculated Columns &amp; Measures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911096"/>
            <a:ext cx="466344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Station Age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Connector Category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Flag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Connector Capacity Group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 Region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Stations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Stations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Non Operational Stations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Connectors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Average Connectors per Station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%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Top Operator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Dashboard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Three pages for overview, comparison and detailed investigation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1" y="1618488"/>
            <a:ext cx="29169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01  Executive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148840"/>
            <a:ext cx="26974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KPIs, country distribution, map, operational status, monthly connectors and capacity.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Interactive navigation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Filters / slicers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Detailed investigation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50876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5112" y="1618488"/>
            <a:ext cx="29169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02  Infrastructure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130552"/>
            <a:ext cx="26974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Operators, regions, connector types, capacity and country/status comparison.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Interactive navigation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Filters / slicers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Detailed investigation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50876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45552" y="1618488"/>
            <a:ext cx="29169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03  Station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8724" y="2185416"/>
            <a:ext cx="26974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Station-level records, capacity distribution and regional operational summary.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Interactive navigation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Filters / slicers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Detailed investigation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Page 1: Executive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23544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rPr dirty="0"/>
              <a:t>High-level view of the EV charging infrastructure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10K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Total Stations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7208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16936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9K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Operational Stations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21224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626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2936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Non Operational Stations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15784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25512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93.46%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7224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Operational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20072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29800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14K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1512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Total Connectors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2697480"/>
            <a:ext cx="53035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2" y="280720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Main Visuals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880" y="3172968"/>
            <a:ext cx="4663440" cy="22860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Top 5 Countries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Countries With EV Stations map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Operational vs Non Operational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Connectors by Month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Charging Capacity Category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697480"/>
            <a:ext cx="53035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28231" y="280720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9127" y="3209544"/>
            <a:ext cx="4663440" cy="22860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Canada: about 3.8K stations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United States: about 2.2K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Operational share: 93.46%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June has about 9.4K connectors in the monthly chart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Geographic distribution is concentrated in selected regions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2D5B4A-A920-657A-BE77-75CD7B67E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A378223-5E7B-E7FF-AB73-BE6756C4CBA4}"/>
              </a:ext>
            </a:extLst>
          </p:cNvPr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F02C22-31A5-9483-7619-0E3DE441AABA}"/>
              </a:ext>
            </a:extLst>
          </p:cNvPr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54CB1C-E27B-F043-A5B3-AC5B526926FF}"/>
              </a:ext>
            </a:extLst>
          </p:cNvPr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3EDC7F-40C4-7598-F5A9-9B284C1A8D7A}"/>
              </a:ext>
            </a:extLst>
          </p:cNvPr>
          <p:cNvSpPr txBox="1"/>
          <p:nvPr/>
        </p:nvSpPr>
        <p:spPr>
          <a:xfrm>
            <a:off x="3820456" y="361188"/>
            <a:ext cx="454804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Page 1: Executive Overview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F7CF2DB-69AE-DAF6-7B6F-6A1965335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987" y="884408"/>
            <a:ext cx="9336025" cy="52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350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Page 2: Infrastructure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Comparing operators, regions, connectors and capacity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30352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Operator &amp; Regional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4921" y="1933956"/>
            <a:ext cx="466344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Average Connectors per Station: 1.46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Top Operator: Circuit Electrique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Circuit Electrique: about 2.0K stations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</a:t>
            </a:r>
            <a:r>
              <a:rPr dirty="0" err="1"/>
              <a:t>Chargepoint</a:t>
            </a:r>
            <a:r>
              <a:rPr dirty="0"/>
              <a:t>: about 1.3K stations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FLO: about 0.7K stations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North America is the dominant region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530352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Capacity &amp; Connector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33956"/>
            <a:ext cx="466344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Small stations: about 70.99%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Medium stations: about 27.89%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Large stations: very small share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Type 1 (J1772) is prominent in connector analysis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Country/status charts enable detailed comparison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73C0-D4E2-BECD-307E-92393A20F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4B224D-3DA1-5E8F-17BE-9AAAEDC24C08}"/>
              </a:ext>
            </a:extLst>
          </p:cNvPr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5952A4-DAC8-A465-C00A-F0F4452B7B20}"/>
              </a:ext>
            </a:extLst>
          </p:cNvPr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6D898C-2F6E-2FA5-1B06-7C8903148E32}"/>
              </a:ext>
            </a:extLst>
          </p:cNvPr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536707-C50B-F3DF-B53B-A8927ABD55FD}"/>
              </a:ext>
            </a:extLst>
          </p:cNvPr>
          <p:cNvSpPr txBox="1"/>
          <p:nvPr/>
        </p:nvSpPr>
        <p:spPr>
          <a:xfrm>
            <a:off x="3469616" y="230649"/>
            <a:ext cx="497540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lang="en-IN" dirty="0"/>
              <a:t>Page 2: Infrastructure Analysis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DEE50-5AEC-FFDC-42EA-314655C8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16" y="795017"/>
            <a:ext cx="9546336" cy="5433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7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0906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Page 3: Station Details &amp; </a:t>
            </a:r>
            <a:r>
              <a:rPr dirty="0" err="1"/>
              <a:t>Drillthrough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70560" y="96240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From aggregate results to station-level investigation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39496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35607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Station-Level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1842516"/>
            <a:ext cx="4709160" cy="34747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Station ID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 Name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Charging Operator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Connectors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Flag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Detailed station records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Charging capacity distribution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530352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Regional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74520"/>
            <a:ext cx="4425696" cy="197746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North America: 6,092 total; 5,828 operational; 264 non-operational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Europe: 2,017 total; 1,792 operational; 225 non-operational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Asia: 782 total; 701 operational; 81 non-operational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South America: 199 total; 173 operational; 26 non-operational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8C248-C76E-E777-F2DB-AEA79C526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E68C2E-FE4D-91FA-DA0B-BCDFF02831B3}"/>
              </a:ext>
            </a:extLst>
          </p:cNvPr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A0D72D-ECF4-DD77-9334-EBE9FB36D40F}"/>
              </a:ext>
            </a:extLst>
          </p:cNvPr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08DCAB-A647-F20E-9FDF-DEBE0D513F10}"/>
              </a:ext>
            </a:extLst>
          </p:cNvPr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850BC7-758D-1FC5-9181-61A50037B79F}"/>
              </a:ext>
            </a:extLst>
          </p:cNvPr>
          <p:cNvSpPr txBox="1"/>
          <p:nvPr/>
        </p:nvSpPr>
        <p:spPr>
          <a:xfrm>
            <a:off x="2961174" y="192930"/>
            <a:ext cx="607563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lang="en-US" dirty="0"/>
              <a:t>Page 3: Station Details &amp; </a:t>
            </a:r>
            <a:r>
              <a:rPr lang="en-US" dirty="0" err="1"/>
              <a:t>Drillthrough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A5CA26-9FBB-7F03-D71C-F9EF615E5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3" y="729866"/>
            <a:ext cx="9701784" cy="552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379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Key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80" y="850392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rPr dirty="0"/>
              <a:t>Major findings from the completed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389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5331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High operational availability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35331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93.46% of stations are reported as operational.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19456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5000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31343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North America dominates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31343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6,092 stations are shown in the regional summary.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15468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3101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27355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Canada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27355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About 3.8K stations in the Top 5 country chart.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1480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702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23367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Operator concentration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23367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Circuit Electrique is the leading displayed operator at about 2.0K stations.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07492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23036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519379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Small stations dominate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19379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Small capacity represents about 70.99% of stations.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Data Consistency 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A validation point identified from the completed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5153" y="1435607"/>
            <a:ext cx="48828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rPr dirty="0"/>
              <a:t>Executive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40" y="2039111"/>
            <a:ext cx="4572000" cy="2926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Stations: 10K</a:t>
            </a:r>
          </a:p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Stations: 9K</a:t>
            </a:r>
          </a:p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Non Operational Stations: 626</a:t>
            </a:r>
          </a:p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%: 93.46%</a:t>
            </a:r>
          </a:p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Connectors: 14K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1435607"/>
            <a:ext cx="5020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Station Details Regional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7" y="2057399"/>
            <a:ext cx="4663440" cy="3200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Regional total: 9,570 stations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Operational: 8,944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Non Operational: 626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non-operational count matches the overview.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total differs from the 10K headline, so filter/context consistency should be checked.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Business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How the dashboard supports analysis and decision-making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3520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52704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Infrastructure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29260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Compare countries and regions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Analyze capacity distribution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Identify areas for further investigation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17320"/>
            <a:ext cx="3520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7992" y="152704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Operator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19"/>
            <a:ext cx="29260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Compare operator station counts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Understand operator concentration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Identify unknown operator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520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57031" y="152704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Operational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874519"/>
            <a:ext cx="29260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Monitor operational status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Compare regional performance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Investigate station-level records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Potential extensions beyond the current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3949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35607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Advanced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4709160" cy="374903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Real-time charging station APIs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Charging power and AC/DC analysis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EV registrations and population integration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Predictive charging-demand analysis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Geographic optimization for new locations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3949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1435607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Dashboard Enhancements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09160" cy="374903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Automated refresh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Station utilization and availability trends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Distance-to-nearest-station analysis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Operator reliability and growth analysis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Infrastructure expansion recommendations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Summary of the completed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10835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80160" y="1970532"/>
            <a:ext cx="9966960" cy="35661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project transforms raw EV charging station data into an interactive Power BI intelligence dashboard.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Power Query and M Language clean, standardize and transform the dataset.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DAX calculated columns and measures create meaningful analytical indicators.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three pages provide executive overview, infrastructure comparison and station-level investigation.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dashboard highlights high operational availability, strong North American concentration, Canada as the leading displayed country, Circuit Electrique as the leading displayed operator, and dominance of small stations.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solution provides a foundation for future real-time, predictive and geographic EV infrastructure analytics.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8932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70B8"/>
                </a:solidFill>
                <a:latin typeface="Times New Roman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1089</Words>
  <Application>Microsoft Office PowerPoint</Application>
  <PresentationFormat>Widescreen</PresentationFormat>
  <Paragraphs>222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Atharv Suryavanshi</cp:lastModifiedBy>
  <cp:revision>5</cp:revision>
  <dcterms:created xsi:type="dcterms:W3CDTF">2013-01-27T09:14:16Z</dcterms:created>
  <dcterms:modified xsi:type="dcterms:W3CDTF">2026-08-11T05:20:11Z</dcterms:modified>
  <cp:category/>
</cp:coreProperties>
</file>