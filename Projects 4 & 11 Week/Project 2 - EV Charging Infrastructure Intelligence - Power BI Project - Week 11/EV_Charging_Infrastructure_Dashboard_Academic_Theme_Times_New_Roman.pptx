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9" r:id="rId8"/>
    <p:sldId id="262" r:id="rId9"/>
    <p:sldId id="271" r:id="rId10"/>
    <p:sldId id="263" r:id="rId11"/>
    <p:sldId id="270" r:id="rId12"/>
    <p:sldId id="264" r:id="rId13"/>
    <p:sldId id="265" r:id="rId14"/>
    <p:sldId id="266" r:id="rId15"/>
    <p:sldId id="267" r:id="rId16"/>
    <p:sldId id="268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1168" y="137160"/>
            <a:ext cx="11786616" cy="6537960"/>
          </a:xfrm>
          <a:prstGeom prst="rect">
            <a:avLst/>
          </a:prstGeom>
          <a:noFill/>
          <a:ln w="11430">
            <a:solidFill>
              <a:srgbClr val="00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01168" y="6336792"/>
            <a:ext cx="11786616" cy="338328"/>
          </a:xfrm>
          <a:prstGeom prst="rect">
            <a:avLst/>
          </a:prstGeom>
          <a:solidFill>
            <a:srgbClr val="00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321040" y="6419088"/>
            <a:ext cx="3200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Times New Roman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-430721" y="438912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rPr dirty="0"/>
              <a:t>EV Charging Infrastructure Intelligence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" y="10245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05050"/>
                </a:solidFill>
                <a:latin typeface="Times New Roman"/>
              </a:defRPr>
            </a:pPr>
            <a:r>
              <a:rPr dirty="0"/>
              <a:t>Power BI Data Analytics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1600200"/>
            <a:ext cx="1005840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94753" y="1965960"/>
            <a:ext cx="1972014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Presented By 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514600"/>
            <a:ext cx="92354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>
                <a:solidFill>
                  <a:srgbClr val="000000"/>
                </a:solidFill>
                <a:latin typeface="Times New Roman"/>
              </a:defRPr>
            </a:pPr>
            <a:r>
              <a:t>Atharv Milind Suryavanshi</a:t>
            </a:r>
          </a:p>
          <a:p>
            <a:pPr algn="ctr">
              <a:defRPr sz="2500">
                <a:solidFill>
                  <a:srgbClr val="000000"/>
                </a:solidFill>
                <a:latin typeface="Times New Roman"/>
              </a:defRPr>
            </a:pPr>
            <a:r>
              <a:t>Shreedhar Sanjay Kumbhar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07208" y="3717488"/>
            <a:ext cx="6574536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Department of Computer Science &amp; Engineering</a:t>
            </a:r>
            <a:br>
              <a:rPr dirty="0"/>
            </a:br>
            <a:r>
              <a:rPr dirty="0"/>
              <a:t>DKTE Society's Yashwantrao Chavan Polytechnic, </a:t>
            </a:r>
            <a:r>
              <a:rPr dirty="0" err="1"/>
              <a:t>Ichalkaranji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807720" y="4562856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Academic Year: 2026 – 27</a:t>
            </a:r>
          </a:p>
        </p:txBody>
      </p:sp>
      <p:pic>
        <p:nvPicPr>
          <p:cNvPr id="12" name="Picture 11" descr="Ev Charging Electric Vehicle Charging Station Icon">
            <a:extLst>
              <a:ext uri="{FF2B5EF4-FFF2-40B4-BE49-F238E27FC236}">
                <a16:creationId xmlns:a16="http://schemas.microsoft.com/office/drawing/2014/main" id="{547553EB-B9C9-8C80-925F-A97342C93A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7769" y="256032"/>
            <a:ext cx="1165740" cy="11657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1168" y="137160"/>
            <a:ext cx="11786616" cy="6537960"/>
          </a:xfrm>
          <a:prstGeom prst="rect">
            <a:avLst/>
          </a:prstGeom>
          <a:noFill/>
          <a:ln w="11430">
            <a:solidFill>
              <a:srgbClr val="00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01168" y="6336792"/>
            <a:ext cx="11786616" cy="338328"/>
          </a:xfrm>
          <a:prstGeom prst="rect">
            <a:avLst/>
          </a:prstGeom>
          <a:solidFill>
            <a:srgbClr val="00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321040" y="6419088"/>
            <a:ext cx="3200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Times New Roman"/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05050"/>
                </a:solidFill>
                <a:latin typeface="Times New Roman"/>
              </a:defRPr>
            </a:pPr>
            <a:r>
              <a:rPr dirty="0"/>
              <a:t>From raw EV station data to an interactive BI 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1732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1527048"/>
            <a:ext cx="4974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070B8"/>
                </a:solidFill>
                <a:latin typeface="Times New Roman"/>
              </a:defRPr>
            </a:pPr>
            <a:r>
              <a:t>Purpose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" y="2002535"/>
            <a:ext cx="4709160" cy="35661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Analyze EV charging infrastructure across countries, regions and operators.</a:t>
            </a:r>
          </a:p>
          <a:p>
            <a:pPr>
              <a:spcAft>
                <a:spcPts val="7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Clean and standardize raw station data using Power Query.</a:t>
            </a:r>
          </a:p>
          <a:p>
            <a:pPr>
              <a:spcAft>
                <a:spcPts val="7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Create calculated columns and analytical measures using DAX.</a:t>
            </a:r>
          </a:p>
          <a:p>
            <a:pPr>
              <a:spcAft>
                <a:spcPts val="7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Present results through three interactive Power BI pages.</a:t>
            </a:r>
          </a:p>
          <a:p>
            <a:pPr>
              <a:spcAft>
                <a:spcPts val="7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Generate insights for infrastructure and operational analysis.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28231" y="1527048"/>
            <a:ext cx="4974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070B8"/>
                </a:solidFill>
                <a:latin typeface="Times New Roman"/>
              </a:defRPr>
            </a:pPr>
            <a:r>
              <a:t>Workflow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1993391"/>
            <a:ext cx="4709160" cy="35661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Raw Dataset</a:t>
            </a:r>
          </a:p>
          <a:p>
            <a:pPr>
              <a:spcAft>
                <a:spcPts val="700"/>
              </a:spcAft>
              <a:defRPr sz="17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Data Inspection &amp; Cleaning</a:t>
            </a:r>
          </a:p>
          <a:p>
            <a:pPr>
              <a:spcAft>
                <a:spcPts val="700"/>
              </a:spcAft>
              <a:defRPr sz="17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Power Query Transformation</a:t>
            </a:r>
          </a:p>
          <a:p>
            <a:pPr>
              <a:spcAft>
                <a:spcPts val="700"/>
              </a:spcAft>
              <a:defRPr sz="17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Calculated Columns &amp; DAX Measures</a:t>
            </a:r>
          </a:p>
          <a:p>
            <a:pPr>
              <a:spcAft>
                <a:spcPts val="700"/>
              </a:spcAft>
              <a:defRPr sz="17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Dashboard Development</a:t>
            </a:r>
          </a:p>
          <a:p>
            <a:pPr>
              <a:spcAft>
                <a:spcPts val="700"/>
              </a:spcAft>
              <a:defRPr sz="17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Insights &amp;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1168" y="137160"/>
            <a:ext cx="11786616" cy="6537960"/>
          </a:xfrm>
          <a:prstGeom prst="rect">
            <a:avLst/>
          </a:prstGeom>
          <a:noFill/>
          <a:ln w="11430">
            <a:solidFill>
              <a:srgbClr val="00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01168" y="6336792"/>
            <a:ext cx="11786616" cy="338328"/>
          </a:xfrm>
          <a:prstGeom prst="rect">
            <a:avLst/>
          </a:prstGeom>
          <a:solidFill>
            <a:srgbClr val="00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321040" y="6419088"/>
            <a:ext cx="3200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Times New Roman"/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Dataset &amp; Data Preparation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05050"/>
                </a:solidFill>
                <a:latin typeface="Times New Roman"/>
              </a:defRPr>
            </a:pPr>
            <a:r>
              <a:t>Key steps used to make the dataset analysis-ready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1732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1527048"/>
            <a:ext cx="4974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070B8"/>
                </a:solidFill>
                <a:latin typeface="Times New Roman"/>
              </a:defRPr>
            </a:pPr>
            <a:r>
              <a:t>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9576" y="2148840"/>
            <a:ext cx="4663440" cy="32918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10,000 original station records</a:t>
            </a:r>
          </a:p>
          <a:p>
            <a:pPr>
              <a:spcAft>
                <a:spcPts val="700"/>
              </a:spcAft>
              <a:defRPr sz="17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14 original columns</a:t>
            </a:r>
          </a:p>
          <a:p>
            <a:pPr>
              <a:spcAft>
                <a:spcPts val="700"/>
              </a:spcAft>
              <a:defRPr sz="17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Station, location, operator, status, connector and date information</a:t>
            </a:r>
          </a:p>
          <a:p>
            <a:pPr>
              <a:spcAft>
                <a:spcPts val="700"/>
              </a:spcAft>
              <a:defRPr sz="17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Multiple countries and geographic regions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28231" y="1527048"/>
            <a:ext cx="4974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070B8"/>
                </a:solidFill>
                <a:latin typeface="Times New Roman"/>
              </a:defRPr>
            </a:pPr>
            <a:r>
              <a:t>Cleaning &amp; Transformation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88480" y="1984247"/>
            <a:ext cx="4709160" cy="3657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Missing-value handling</a:t>
            </a:r>
          </a:p>
          <a:p>
            <a:pPr>
              <a:spcAft>
                <a:spcPts val="700"/>
              </a:spcAft>
              <a:defRPr sz="15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Duplicate checking</a:t>
            </a:r>
          </a:p>
          <a:p>
            <a:pPr>
              <a:spcAft>
                <a:spcPts val="700"/>
              </a:spcAft>
              <a:defRPr sz="15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Column renaming</a:t>
            </a:r>
          </a:p>
          <a:p>
            <a:pPr>
              <a:spcAft>
                <a:spcPts val="700"/>
              </a:spcAft>
              <a:defRPr sz="15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Text trimming</a:t>
            </a:r>
          </a:p>
          <a:p>
            <a:pPr>
              <a:spcAft>
                <a:spcPts val="700"/>
              </a:spcAft>
              <a:defRPr sz="15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Country-name standardization</a:t>
            </a:r>
          </a:p>
          <a:p>
            <a:pPr>
              <a:spcAft>
                <a:spcPts val="700"/>
              </a:spcAft>
              <a:defRPr sz="15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Operator and status standardization</a:t>
            </a:r>
          </a:p>
          <a:p>
            <a:pPr>
              <a:spcAft>
                <a:spcPts val="700"/>
              </a:spcAft>
              <a:defRPr sz="15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Connector-type transformation</a:t>
            </a:r>
          </a:p>
          <a:p>
            <a:pPr>
              <a:spcAft>
                <a:spcPts val="700"/>
              </a:spcAft>
              <a:defRPr sz="15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Latitude/longitude validation</a:t>
            </a:r>
          </a:p>
          <a:p>
            <a:pPr>
              <a:spcAft>
                <a:spcPts val="700"/>
              </a:spcAft>
              <a:defRPr sz="15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Charging capacity categories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1168" y="137160"/>
            <a:ext cx="11786616" cy="6537960"/>
          </a:xfrm>
          <a:prstGeom prst="rect">
            <a:avLst/>
          </a:prstGeom>
          <a:noFill/>
          <a:ln w="11430">
            <a:solidFill>
              <a:srgbClr val="00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01168" y="6336792"/>
            <a:ext cx="11786616" cy="338328"/>
          </a:xfrm>
          <a:prstGeom prst="rect">
            <a:avLst/>
          </a:prstGeom>
          <a:solidFill>
            <a:srgbClr val="00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321040" y="6419088"/>
            <a:ext cx="3200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Times New Roman"/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Power Query, M Language &amp; DAX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05050"/>
                </a:solidFill>
                <a:latin typeface="Times New Roman"/>
              </a:defRPr>
            </a:pPr>
            <a:r>
              <a:t>The transformation and calculation layer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53035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1435607"/>
            <a:ext cx="4974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070B8"/>
                </a:solidFill>
                <a:latin typeface="Times New Roman"/>
              </a:defRPr>
            </a:pPr>
            <a:r>
              <a:t>Power Query / M Language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975104"/>
            <a:ext cx="4663440" cy="3840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Missing-value handling</a:t>
            </a:r>
          </a:p>
          <a:p>
            <a:pPr>
              <a:spcAft>
                <a:spcPts val="7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Duplicate checks</a:t>
            </a:r>
          </a:p>
          <a:p>
            <a:pPr>
              <a:spcAft>
                <a:spcPts val="7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Text cleaning</a:t>
            </a:r>
          </a:p>
          <a:p>
            <a:pPr>
              <a:spcAft>
                <a:spcPts val="7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Country mapping</a:t>
            </a:r>
          </a:p>
          <a:p>
            <a:pPr>
              <a:spcAft>
                <a:spcPts val="7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Operator cleaning</a:t>
            </a:r>
          </a:p>
          <a:p>
            <a:pPr>
              <a:spcAft>
                <a:spcPts val="7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Status standardization</a:t>
            </a:r>
          </a:p>
          <a:p>
            <a:pPr>
              <a:spcAft>
                <a:spcPts val="7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Connector transformation</a:t>
            </a:r>
          </a:p>
          <a:p>
            <a:pPr>
              <a:spcAft>
                <a:spcPts val="7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Geographic validation</a:t>
            </a:r>
          </a:p>
          <a:p>
            <a:pPr>
              <a:spcAft>
                <a:spcPts val="7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Capacity categorization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325880"/>
            <a:ext cx="53035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28231" y="1435607"/>
            <a:ext cx="4974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070B8"/>
                </a:solidFill>
                <a:latin typeface="Times New Roman"/>
              </a:defRPr>
            </a:pPr>
            <a:r>
              <a:t>Calculated Columns &amp; Measures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1911096"/>
            <a:ext cx="4663440" cy="3840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Station Age</a:t>
            </a:r>
          </a:p>
          <a:p>
            <a:pPr>
              <a:spcAft>
                <a:spcPts val="700"/>
              </a:spcAft>
              <a:defRPr sz="15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Connector Category</a:t>
            </a:r>
          </a:p>
          <a:p>
            <a:pPr>
              <a:spcAft>
                <a:spcPts val="700"/>
              </a:spcAft>
              <a:defRPr sz="15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Operational Flag</a:t>
            </a:r>
          </a:p>
          <a:p>
            <a:pPr>
              <a:spcAft>
                <a:spcPts val="700"/>
              </a:spcAft>
              <a:defRPr sz="15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Connector Capacity Group</a:t>
            </a:r>
          </a:p>
          <a:p>
            <a:pPr>
              <a:spcAft>
                <a:spcPts val="700"/>
              </a:spcAft>
              <a:defRPr sz="15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Country Region</a:t>
            </a:r>
          </a:p>
          <a:p>
            <a:pPr>
              <a:spcAft>
                <a:spcPts val="700"/>
              </a:spcAft>
              <a:defRPr sz="15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Total Stations</a:t>
            </a:r>
          </a:p>
          <a:p>
            <a:pPr>
              <a:spcAft>
                <a:spcPts val="700"/>
              </a:spcAft>
              <a:defRPr sz="15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Operational Stations</a:t>
            </a:r>
          </a:p>
          <a:p>
            <a:pPr>
              <a:spcAft>
                <a:spcPts val="700"/>
              </a:spcAft>
              <a:defRPr sz="15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Non Operational Stations</a:t>
            </a:r>
          </a:p>
          <a:p>
            <a:pPr>
              <a:spcAft>
                <a:spcPts val="700"/>
              </a:spcAft>
              <a:defRPr sz="15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Total Connectors</a:t>
            </a:r>
          </a:p>
          <a:p>
            <a:pPr>
              <a:spcAft>
                <a:spcPts val="700"/>
              </a:spcAft>
              <a:defRPr sz="15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Average Connectors per Station</a:t>
            </a:r>
          </a:p>
          <a:p>
            <a:pPr>
              <a:spcAft>
                <a:spcPts val="700"/>
              </a:spcAft>
              <a:defRPr sz="15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Operational %</a:t>
            </a:r>
          </a:p>
          <a:p>
            <a:pPr>
              <a:spcAft>
                <a:spcPts val="700"/>
              </a:spcAft>
              <a:defRPr sz="15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Top Operator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1168" y="137160"/>
            <a:ext cx="11786616" cy="6537960"/>
          </a:xfrm>
          <a:prstGeom prst="rect">
            <a:avLst/>
          </a:prstGeom>
          <a:noFill/>
          <a:ln w="11430">
            <a:solidFill>
              <a:srgbClr val="00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01168" y="6336792"/>
            <a:ext cx="11786616" cy="338328"/>
          </a:xfrm>
          <a:prstGeom prst="rect">
            <a:avLst/>
          </a:prstGeom>
          <a:solidFill>
            <a:srgbClr val="00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321040" y="6419088"/>
            <a:ext cx="3200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Times New Roman"/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Dashboard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05050"/>
                </a:solidFill>
                <a:latin typeface="Times New Roman"/>
              </a:defRPr>
            </a:pPr>
            <a:r>
              <a:t>Three pages for overview, comparison and detailed investigation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324612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1" y="1618488"/>
            <a:ext cx="29169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070B8"/>
                </a:solidFill>
                <a:latin typeface="Times New Roman"/>
              </a:defRPr>
            </a:pPr>
            <a:r>
              <a:t>01  Executive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" y="2148840"/>
            <a:ext cx="2697480" cy="31089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KPIs, country distribution, map, operational status, monthly connectors and capacity.</a:t>
            </a:r>
          </a:p>
          <a:p>
            <a:pPr>
              <a:spcAft>
                <a:spcPts val="7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Interactive navigation</a:t>
            </a:r>
          </a:p>
          <a:p>
            <a:pPr>
              <a:spcAft>
                <a:spcPts val="7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Filters / slicers</a:t>
            </a:r>
          </a:p>
          <a:p>
            <a:pPr>
              <a:spcAft>
                <a:spcPts val="7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Detailed investigation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508760"/>
            <a:ext cx="324612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25112" y="1618488"/>
            <a:ext cx="29169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070B8"/>
                </a:solidFill>
                <a:latin typeface="Times New Roman"/>
              </a:defRPr>
            </a:pPr>
            <a:r>
              <a:t>02  Infrastructure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130552"/>
            <a:ext cx="2697480" cy="31089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Operators, regions, connector types, capacity and country/status comparison.</a:t>
            </a:r>
          </a:p>
          <a:p>
            <a:pPr>
              <a:spcAft>
                <a:spcPts val="7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Interactive navigation</a:t>
            </a:r>
          </a:p>
          <a:p>
            <a:pPr>
              <a:spcAft>
                <a:spcPts val="7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Filters / slicers</a:t>
            </a:r>
          </a:p>
          <a:p>
            <a:pPr>
              <a:spcAft>
                <a:spcPts val="7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Detailed investigation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1508760"/>
            <a:ext cx="324612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45552" y="1618488"/>
            <a:ext cx="29169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070B8"/>
                </a:solidFill>
                <a:latin typeface="Times New Roman"/>
              </a:defRPr>
            </a:pPr>
            <a:r>
              <a:t>03  Station Details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78724" y="2185416"/>
            <a:ext cx="2697480" cy="31089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• Station-level records, capacity distribution and regional operational summary.</a:t>
            </a:r>
          </a:p>
          <a:p>
            <a:pPr>
              <a:spcAft>
                <a:spcPts val="7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• Interactive navigation</a:t>
            </a:r>
          </a:p>
          <a:p>
            <a:pPr>
              <a:spcAft>
                <a:spcPts val="7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• Filters / slicers</a:t>
            </a:r>
          </a:p>
          <a:p>
            <a:pPr>
              <a:spcAft>
                <a:spcPts val="7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• Detailed investigation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1168" y="137160"/>
            <a:ext cx="11786616" cy="6537960"/>
          </a:xfrm>
          <a:prstGeom prst="rect">
            <a:avLst/>
          </a:prstGeom>
          <a:noFill/>
          <a:ln w="11430">
            <a:solidFill>
              <a:srgbClr val="00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01168" y="6336792"/>
            <a:ext cx="11786616" cy="338328"/>
          </a:xfrm>
          <a:prstGeom prst="rect">
            <a:avLst/>
          </a:prstGeom>
          <a:solidFill>
            <a:srgbClr val="00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321040" y="6419088"/>
            <a:ext cx="3200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Times New Roman"/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rPr dirty="0"/>
              <a:t>Page 1: Executive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23544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05050"/>
                </a:solidFill>
                <a:latin typeface="Times New Roman"/>
              </a:defRPr>
            </a:pPr>
            <a:r>
              <a:rPr dirty="0"/>
              <a:t>High-level view of the EV charging infrastructure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21031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2648" y="1399032"/>
            <a:ext cx="1883663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70B8"/>
                </a:solidFill>
                <a:latin typeface="Times New Roman"/>
              </a:defRPr>
            </a:pPr>
            <a:r>
              <a:t>10K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20240"/>
            <a:ext cx="19202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000000"/>
                </a:solidFill>
                <a:latin typeface="Times New Roman"/>
              </a:defRPr>
            </a:pPr>
            <a:r>
              <a:t>Total Stations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07208" y="1234440"/>
            <a:ext cx="21031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16936" y="1399032"/>
            <a:ext cx="1883663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70B8"/>
                </a:solidFill>
                <a:latin typeface="Times New Roman"/>
              </a:defRPr>
            </a:pPr>
            <a:r>
              <a:t>9K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98648" y="1920240"/>
            <a:ext cx="19202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000000"/>
                </a:solidFill>
                <a:latin typeface="Times New Roman"/>
              </a:defRPr>
            </a:pPr>
            <a:r>
              <a:t>Operational Stations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11496" y="1234440"/>
            <a:ext cx="21031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21224" y="1399032"/>
            <a:ext cx="1883663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70B8"/>
                </a:solidFill>
                <a:latin typeface="Times New Roman"/>
              </a:defRPr>
            </a:pPr>
            <a:r>
              <a:t>626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02936" y="1920240"/>
            <a:ext cx="19202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000000"/>
                </a:solidFill>
                <a:latin typeface="Times New Roman"/>
              </a:defRPr>
            </a:pPr>
            <a:r>
              <a:t>Non Operational Stations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15784" y="1234440"/>
            <a:ext cx="21031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25512" y="1399032"/>
            <a:ext cx="1883663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70B8"/>
                </a:solidFill>
                <a:latin typeface="Times New Roman"/>
              </a:defRPr>
            </a:pPr>
            <a:r>
              <a:t>93.46%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07224" y="1920240"/>
            <a:ext cx="19202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000000"/>
                </a:solidFill>
                <a:latin typeface="Times New Roman"/>
              </a:defRPr>
            </a:pPr>
            <a:r>
              <a:t>Operational 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20072" y="1234440"/>
            <a:ext cx="21031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829800" y="1399032"/>
            <a:ext cx="1883663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70B8"/>
                </a:solidFill>
                <a:latin typeface="Times New Roman"/>
              </a:defRPr>
            </a:pPr>
            <a:r>
              <a:t>14K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11512" y="1920240"/>
            <a:ext cx="19202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000000"/>
                </a:solidFill>
                <a:latin typeface="Times New Roman"/>
              </a:defRPr>
            </a:pPr>
            <a:r>
              <a:t>Total Connectors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2697480"/>
            <a:ext cx="530352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58952" y="2807208"/>
            <a:ext cx="4974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070B8"/>
                </a:solidFill>
                <a:latin typeface="Times New Roman"/>
              </a:defRPr>
            </a:pPr>
            <a:r>
              <a:t>Main Visuals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4880" y="3172968"/>
            <a:ext cx="4663440" cy="22860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• Top 5 Countries</a:t>
            </a:r>
          </a:p>
          <a:p>
            <a:pPr>
              <a:spcAft>
                <a:spcPts val="7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• Countries With EV Stations map</a:t>
            </a:r>
          </a:p>
          <a:p>
            <a:pPr>
              <a:spcAft>
                <a:spcPts val="7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• Operational vs Non Operational</a:t>
            </a:r>
          </a:p>
          <a:p>
            <a:pPr>
              <a:spcAft>
                <a:spcPts val="7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• Connectors by Month</a:t>
            </a:r>
          </a:p>
          <a:p>
            <a:pPr>
              <a:spcAft>
                <a:spcPts val="7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• Charging Capacity Category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2697480"/>
            <a:ext cx="530352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28231" y="2807208"/>
            <a:ext cx="4974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070B8"/>
                </a:solidFill>
                <a:latin typeface="Times New Roman"/>
              </a:defRPr>
            </a:pPr>
            <a:r>
              <a:t>Insights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39127" y="3209544"/>
            <a:ext cx="4663440" cy="22860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000000"/>
                </a:solidFill>
                <a:latin typeface="Times New Roman"/>
              </a:defRPr>
            </a:pPr>
            <a:r>
              <a:t>• Canada: about 3.8K stations</a:t>
            </a:r>
          </a:p>
          <a:p>
            <a:pPr>
              <a:spcAft>
                <a:spcPts val="700"/>
              </a:spcAft>
              <a:defRPr sz="1500">
                <a:solidFill>
                  <a:srgbClr val="000000"/>
                </a:solidFill>
                <a:latin typeface="Times New Roman"/>
              </a:defRPr>
            </a:pPr>
            <a:r>
              <a:t>• United States: about 2.2K</a:t>
            </a:r>
          </a:p>
          <a:p>
            <a:pPr>
              <a:spcAft>
                <a:spcPts val="700"/>
              </a:spcAft>
              <a:defRPr sz="1500">
                <a:solidFill>
                  <a:srgbClr val="000000"/>
                </a:solidFill>
                <a:latin typeface="Times New Roman"/>
              </a:defRPr>
            </a:pPr>
            <a:r>
              <a:t>• Operational share: 93.46%</a:t>
            </a:r>
          </a:p>
          <a:p>
            <a:pPr>
              <a:spcAft>
                <a:spcPts val="700"/>
              </a:spcAft>
              <a:defRPr sz="1500">
                <a:solidFill>
                  <a:srgbClr val="000000"/>
                </a:solidFill>
                <a:latin typeface="Times New Roman"/>
              </a:defRPr>
            </a:pPr>
            <a:r>
              <a:t>• June has about 9.4K connectors in the monthly chart</a:t>
            </a:r>
          </a:p>
          <a:p>
            <a:pPr>
              <a:spcAft>
                <a:spcPts val="700"/>
              </a:spcAft>
              <a:defRPr sz="1500">
                <a:solidFill>
                  <a:srgbClr val="000000"/>
                </a:solidFill>
                <a:latin typeface="Times New Roman"/>
              </a:defRPr>
            </a:pPr>
            <a:r>
              <a:t>• Geographic distribution is concentrated in selected regions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2D5B4A-A920-657A-BE77-75CD7B67E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A378223-5E7B-E7FF-AB73-BE6756C4CBA4}"/>
              </a:ext>
            </a:extLst>
          </p:cNvPr>
          <p:cNvSpPr/>
          <p:nvPr/>
        </p:nvSpPr>
        <p:spPr>
          <a:xfrm>
            <a:off x="201168" y="137160"/>
            <a:ext cx="11786616" cy="6537960"/>
          </a:xfrm>
          <a:prstGeom prst="rect">
            <a:avLst/>
          </a:prstGeom>
          <a:noFill/>
          <a:ln w="11430">
            <a:solidFill>
              <a:srgbClr val="00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0F02C22-31A5-9483-7619-0E3DE441AABA}"/>
              </a:ext>
            </a:extLst>
          </p:cNvPr>
          <p:cNvSpPr/>
          <p:nvPr/>
        </p:nvSpPr>
        <p:spPr>
          <a:xfrm>
            <a:off x="201168" y="6336792"/>
            <a:ext cx="11786616" cy="338328"/>
          </a:xfrm>
          <a:prstGeom prst="rect">
            <a:avLst/>
          </a:prstGeom>
          <a:solidFill>
            <a:srgbClr val="00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54CB1C-E27B-F043-A5B3-AC5B526926FF}"/>
              </a:ext>
            </a:extLst>
          </p:cNvPr>
          <p:cNvSpPr txBox="1"/>
          <p:nvPr/>
        </p:nvSpPr>
        <p:spPr>
          <a:xfrm>
            <a:off x="8321040" y="6419088"/>
            <a:ext cx="3200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Times New Roman"/>
              </a:defRPr>
            </a:pPr>
            <a:r>
              <a:t>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3EDC7F-40C4-7598-F5A9-9B284C1A8D7A}"/>
              </a:ext>
            </a:extLst>
          </p:cNvPr>
          <p:cNvSpPr txBox="1"/>
          <p:nvPr/>
        </p:nvSpPr>
        <p:spPr>
          <a:xfrm>
            <a:off x="3820456" y="361188"/>
            <a:ext cx="454804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rPr dirty="0"/>
              <a:t>Page 1: Executive Overview</a:t>
            </a:r>
            <a:r>
              <a:rPr lang="en-US" dirty="0"/>
              <a:t> </a:t>
            </a:r>
            <a:endParaRPr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1F7CF2DB-69AE-DAF6-7B6F-6A1965335E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7987" y="884408"/>
            <a:ext cx="9336025" cy="5262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3507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1168" y="137160"/>
            <a:ext cx="11786616" cy="6537960"/>
          </a:xfrm>
          <a:prstGeom prst="rect">
            <a:avLst/>
          </a:prstGeom>
          <a:noFill/>
          <a:ln w="11430">
            <a:solidFill>
              <a:srgbClr val="00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01168" y="6336792"/>
            <a:ext cx="11786616" cy="338328"/>
          </a:xfrm>
          <a:prstGeom prst="rect">
            <a:avLst/>
          </a:prstGeom>
          <a:solidFill>
            <a:srgbClr val="00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321040" y="6419088"/>
            <a:ext cx="3200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Times New Roman"/>
              </a:defRPr>
            </a:pPr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rPr dirty="0"/>
              <a:t>Page 2: Infrastructure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05050"/>
                </a:solidFill>
                <a:latin typeface="Times New Roman"/>
              </a:defRPr>
            </a:pPr>
            <a:r>
              <a:t>Comparing operators, regions, connectors and capacity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530352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1435607"/>
            <a:ext cx="4974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070B8"/>
                </a:solidFill>
                <a:latin typeface="Times New Roman"/>
              </a:defRPr>
            </a:pPr>
            <a:r>
              <a:t>Operator &amp; Regional Findings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4921" y="1933956"/>
            <a:ext cx="4663440" cy="3840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Average Connectors per Station: 1.46</a:t>
            </a:r>
          </a:p>
          <a:p>
            <a:pPr>
              <a:spcAft>
                <a:spcPts val="7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Top Operator: Circuit Electrique</a:t>
            </a:r>
          </a:p>
          <a:p>
            <a:pPr>
              <a:spcAft>
                <a:spcPts val="7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Circuit Electrique: about 2.0K stations</a:t>
            </a:r>
          </a:p>
          <a:p>
            <a:pPr>
              <a:spcAft>
                <a:spcPts val="7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</a:t>
            </a:r>
            <a:r>
              <a:rPr dirty="0" err="1"/>
              <a:t>Chargepoint</a:t>
            </a:r>
            <a:r>
              <a:rPr dirty="0"/>
              <a:t>: about 1.3K stations</a:t>
            </a:r>
          </a:p>
          <a:p>
            <a:pPr>
              <a:spcAft>
                <a:spcPts val="7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FLO: about 0.7K stations</a:t>
            </a:r>
          </a:p>
          <a:p>
            <a:pPr>
              <a:spcAft>
                <a:spcPts val="7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North America is the dominant region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325880"/>
            <a:ext cx="530352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28231" y="1435607"/>
            <a:ext cx="4974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070B8"/>
                </a:solidFill>
                <a:latin typeface="Times New Roman"/>
              </a:defRPr>
            </a:pPr>
            <a:r>
              <a:t>Capacity &amp; Connector Findings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933956"/>
            <a:ext cx="4663440" cy="3840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Small stations: about 70.99%</a:t>
            </a:r>
          </a:p>
          <a:p>
            <a:pPr>
              <a:spcAft>
                <a:spcPts val="7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Medium stations: about 27.89%</a:t>
            </a:r>
          </a:p>
          <a:p>
            <a:pPr>
              <a:spcAft>
                <a:spcPts val="7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Large stations: very small share</a:t>
            </a:r>
          </a:p>
          <a:p>
            <a:pPr>
              <a:spcAft>
                <a:spcPts val="7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Type 1 (J1772) is prominent in connector analysis</a:t>
            </a:r>
          </a:p>
          <a:p>
            <a:pPr>
              <a:spcAft>
                <a:spcPts val="7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Country/status charts enable detailed comparison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773C0-D4E2-BECD-307E-92393A20F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A4B224D-3DA1-5E8F-17BE-9AAAEDC24C08}"/>
              </a:ext>
            </a:extLst>
          </p:cNvPr>
          <p:cNvSpPr/>
          <p:nvPr/>
        </p:nvSpPr>
        <p:spPr>
          <a:xfrm>
            <a:off x="201168" y="137160"/>
            <a:ext cx="11786616" cy="6537960"/>
          </a:xfrm>
          <a:prstGeom prst="rect">
            <a:avLst/>
          </a:prstGeom>
          <a:noFill/>
          <a:ln w="11430">
            <a:solidFill>
              <a:srgbClr val="00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5952A4-DAC8-A465-C00A-F0F4452B7B20}"/>
              </a:ext>
            </a:extLst>
          </p:cNvPr>
          <p:cNvSpPr/>
          <p:nvPr/>
        </p:nvSpPr>
        <p:spPr>
          <a:xfrm>
            <a:off x="201168" y="6336792"/>
            <a:ext cx="11786616" cy="338328"/>
          </a:xfrm>
          <a:prstGeom prst="rect">
            <a:avLst/>
          </a:prstGeom>
          <a:solidFill>
            <a:srgbClr val="00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6D898C-2F6E-2FA5-1B06-7C8903148E32}"/>
              </a:ext>
            </a:extLst>
          </p:cNvPr>
          <p:cNvSpPr txBox="1"/>
          <p:nvPr/>
        </p:nvSpPr>
        <p:spPr>
          <a:xfrm>
            <a:off x="8321040" y="6419088"/>
            <a:ext cx="3200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Times New Roman"/>
              </a:defRPr>
            </a:pPr>
            <a:r>
              <a:t>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536707-C50B-F3DF-B53B-A8927ABD55FD}"/>
              </a:ext>
            </a:extLst>
          </p:cNvPr>
          <p:cNvSpPr txBox="1"/>
          <p:nvPr/>
        </p:nvSpPr>
        <p:spPr>
          <a:xfrm>
            <a:off x="3469616" y="230649"/>
            <a:ext cx="497540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rPr lang="en-IN" dirty="0"/>
              <a:t>Page 2: Infrastructure Analysis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0DDEE50-5AEC-FFDC-42EA-314655C85B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016" y="795017"/>
            <a:ext cx="9546336" cy="5433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671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1168" y="137160"/>
            <a:ext cx="11786616" cy="6537960"/>
          </a:xfrm>
          <a:prstGeom prst="rect">
            <a:avLst/>
          </a:prstGeom>
          <a:noFill/>
          <a:ln w="11430">
            <a:solidFill>
              <a:srgbClr val="00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01168" y="6336792"/>
            <a:ext cx="11786616" cy="338328"/>
          </a:xfrm>
          <a:prstGeom prst="rect">
            <a:avLst/>
          </a:prstGeom>
          <a:solidFill>
            <a:srgbClr val="00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321040" y="6419088"/>
            <a:ext cx="3200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Times New Roman"/>
              </a:defRPr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90906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rPr dirty="0"/>
              <a:t>Page 3: Station Details &amp; </a:t>
            </a:r>
            <a:r>
              <a:rPr dirty="0" err="1"/>
              <a:t>Drillthrough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670560" y="962406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05050"/>
                </a:solidFill>
                <a:latin typeface="Times New Roman"/>
              </a:defRPr>
            </a:pPr>
            <a:r>
              <a:t>From aggregate results to station-level investigation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539496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1435607"/>
            <a:ext cx="50657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070B8"/>
                </a:solidFill>
                <a:latin typeface="Times New Roman"/>
              </a:defRPr>
            </a:pPr>
            <a:r>
              <a:t>Station-Level 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1842516"/>
            <a:ext cx="4709160" cy="34747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Station ID</a:t>
            </a:r>
          </a:p>
          <a:p>
            <a:pPr>
              <a:spcAft>
                <a:spcPts val="700"/>
              </a:spcAft>
              <a:defRPr sz="17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Country Name</a:t>
            </a:r>
          </a:p>
          <a:p>
            <a:pPr>
              <a:spcAft>
                <a:spcPts val="700"/>
              </a:spcAft>
              <a:defRPr sz="17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Charging Operator</a:t>
            </a:r>
          </a:p>
          <a:p>
            <a:pPr>
              <a:spcAft>
                <a:spcPts val="700"/>
              </a:spcAft>
              <a:defRPr sz="17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Total Connectors</a:t>
            </a:r>
          </a:p>
          <a:p>
            <a:pPr>
              <a:spcAft>
                <a:spcPts val="700"/>
              </a:spcAft>
              <a:defRPr sz="17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Operational Flag</a:t>
            </a:r>
          </a:p>
          <a:p>
            <a:pPr>
              <a:spcAft>
                <a:spcPts val="700"/>
              </a:spcAft>
              <a:defRPr sz="17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Detailed station records</a:t>
            </a:r>
          </a:p>
          <a:p>
            <a:pPr>
              <a:spcAft>
                <a:spcPts val="700"/>
              </a:spcAft>
              <a:defRPr sz="17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Charging capacity distribution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325880"/>
            <a:ext cx="530352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28231" y="1435607"/>
            <a:ext cx="4974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070B8"/>
                </a:solidFill>
                <a:latin typeface="Times New Roman"/>
              </a:defRPr>
            </a:pPr>
            <a:r>
              <a:t>Regional Summary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874520"/>
            <a:ext cx="4425696" cy="197746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North America: 6,092 total; 5,828 operational; 264 non-operational</a:t>
            </a:r>
          </a:p>
          <a:p>
            <a:pPr>
              <a:spcAft>
                <a:spcPts val="700"/>
              </a:spcAft>
              <a:defRPr sz="15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Europe: 2,017 total; 1,792 operational; 225 non-operational</a:t>
            </a:r>
          </a:p>
          <a:p>
            <a:pPr>
              <a:spcAft>
                <a:spcPts val="700"/>
              </a:spcAft>
              <a:defRPr sz="15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Asia: 782 total; 701 operational; 81 non-operational</a:t>
            </a:r>
          </a:p>
          <a:p>
            <a:pPr>
              <a:spcAft>
                <a:spcPts val="700"/>
              </a:spcAft>
              <a:defRPr sz="15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South America: 199 total; 173 operational; 26 non-operational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08C248-C76E-E777-F2DB-AEA79C526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AE68C2E-FE4D-91FA-DA0B-BCDFF02831B3}"/>
              </a:ext>
            </a:extLst>
          </p:cNvPr>
          <p:cNvSpPr/>
          <p:nvPr/>
        </p:nvSpPr>
        <p:spPr>
          <a:xfrm>
            <a:off x="201168" y="137160"/>
            <a:ext cx="11786616" cy="6537960"/>
          </a:xfrm>
          <a:prstGeom prst="rect">
            <a:avLst/>
          </a:prstGeom>
          <a:noFill/>
          <a:ln w="11430">
            <a:solidFill>
              <a:srgbClr val="00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A0D72D-ECF4-DD77-9334-EBE9FB36D40F}"/>
              </a:ext>
            </a:extLst>
          </p:cNvPr>
          <p:cNvSpPr/>
          <p:nvPr/>
        </p:nvSpPr>
        <p:spPr>
          <a:xfrm>
            <a:off x="201168" y="6336792"/>
            <a:ext cx="11786616" cy="338328"/>
          </a:xfrm>
          <a:prstGeom prst="rect">
            <a:avLst/>
          </a:prstGeom>
          <a:solidFill>
            <a:srgbClr val="00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08DCAB-A647-F20E-9FDF-DEBE0D513F10}"/>
              </a:ext>
            </a:extLst>
          </p:cNvPr>
          <p:cNvSpPr txBox="1"/>
          <p:nvPr/>
        </p:nvSpPr>
        <p:spPr>
          <a:xfrm>
            <a:off x="8321040" y="6419088"/>
            <a:ext cx="3200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Times New Roman"/>
              </a:defRPr>
            </a:pPr>
            <a:r>
              <a:t>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850BC7-758D-1FC5-9181-61A50037B79F}"/>
              </a:ext>
            </a:extLst>
          </p:cNvPr>
          <p:cNvSpPr txBox="1"/>
          <p:nvPr/>
        </p:nvSpPr>
        <p:spPr>
          <a:xfrm>
            <a:off x="2961174" y="192930"/>
            <a:ext cx="607563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rPr lang="en-US" dirty="0"/>
              <a:t>Page 3: Station Details &amp; </a:t>
            </a:r>
            <a:r>
              <a:rPr lang="en-US" dirty="0" err="1"/>
              <a:t>Drillthrough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A5CA26-9FBB-7F03-D71C-F9EF615E5F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033" y="729866"/>
            <a:ext cx="9701784" cy="5523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3795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1168" y="137160"/>
            <a:ext cx="11786616" cy="6537960"/>
          </a:xfrm>
          <a:prstGeom prst="rect">
            <a:avLst/>
          </a:prstGeom>
          <a:noFill/>
          <a:ln w="11430">
            <a:solidFill>
              <a:srgbClr val="00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01168" y="6336792"/>
            <a:ext cx="11786616" cy="338328"/>
          </a:xfrm>
          <a:prstGeom prst="rect">
            <a:avLst/>
          </a:prstGeom>
          <a:solidFill>
            <a:srgbClr val="00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321040" y="6419088"/>
            <a:ext cx="3200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Times New Roman"/>
              </a:defRPr>
            </a:pPr>
            <a: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47472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rPr dirty="0"/>
              <a:t>Key 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6280" y="85039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05050"/>
                </a:solidFill>
                <a:latin typeface="Times New Roman"/>
              </a:defRPr>
            </a:pPr>
            <a:r>
              <a:rPr dirty="0"/>
              <a:t>Major findings from the completed 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109728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38988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070B8"/>
                </a:solidFill>
                <a:latin typeface="Times New Roman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353312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0000"/>
                </a:solidFill>
                <a:latin typeface="Times New Roman"/>
              </a:defRPr>
            </a:pPr>
            <a:r>
              <a:t>High operational availability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1353312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Times New Roman"/>
              </a:defRPr>
            </a:pPr>
            <a:r>
              <a:t>93.46% of stations are reported as operational.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194560"/>
            <a:ext cx="109728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235000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070B8"/>
                </a:solidFill>
                <a:latin typeface="Times New Roman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313432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0000"/>
                </a:solidFill>
                <a:latin typeface="Times New Roman"/>
              </a:defRPr>
            </a:pPr>
            <a:r>
              <a:t>North America dominates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313432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Times New Roman"/>
              </a:defRPr>
            </a:pPr>
            <a:r>
              <a:t>6,092 stations are shown in the regional summary.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154680"/>
            <a:ext cx="109728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331012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070B8"/>
                </a:solidFill>
                <a:latin typeface="Times New Roman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273552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0000"/>
                </a:solidFill>
                <a:latin typeface="Times New Roman"/>
              </a:defRPr>
            </a:pPr>
            <a:r>
              <a:t>Canada leads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3273552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Times New Roman"/>
              </a:defRPr>
            </a:pPr>
            <a:r>
              <a:t>About 3.8K stations in the Top 5 country chart.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114800"/>
            <a:ext cx="109728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427024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070B8"/>
                </a:solidFill>
                <a:latin typeface="Times New Roman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4233672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0000"/>
                </a:solidFill>
                <a:latin typeface="Times New Roman"/>
              </a:defRPr>
            </a:pPr>
            <a:r>
              <a:t>Operator concentration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4233672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Times New Roman"/>
              </a:defRPr>
            </a:pPr>
            <a:r>
              <a:t>Circuit Electrique is the leading displayed operator at about 2.0K stations.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5074920"/>
            <a:ext cx="109728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523036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070B8"/>
                </a:solidFill>
                <a:latin typeface="Times New Roman"/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5193792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0000"/>
                </a:solidFill>
                <a:latin typeface="Times New Roman"/>
              </a:defRPr>
            </a:pPr>
            <a:r>
              <a:t>Small stations dominate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5193792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Times New Roman"/>
              </a:defRPr>
            </a:pPr>
            <a:r>
              <a:t>Small capacity represents about 70.99% of stations.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1168" y="137160"/>
            <a:ext cx="11786616" cy="6537960"/>
          </a:xfrm>
          <a:prstGeom prst="rect">
            <a:avLst/>
          </a:prstGeom>
          <a:noFill/>
          <a:ln w="11430">
            <a:solidFill>
              <a:srgbClr val="00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01168" y="6336792"/>
            <a:ext cx="11786616" cy="338328"/>
          </a:xfrm>
          <a:prstGeom prst="rect">
            <a:avLst/>
          </a:prstGeom>
          <a:solidFill>
            <a:srgbClr val="00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321040" y="6419088"/>
            <a:ext cx="3200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Times New Roman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Data Consistency 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05050"/>
                </a:solidFill>
                <a:latin typeface="Times New Roman"/>
              </a:defRPr>
            </a:pPr>
            <a:r>
              <a:t>A validation point identified from the completed 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52120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5153" y="1435607"/>
            <a:ext cx="48828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070B8"/>
                </a:solidFill>
                <a:latin typeface="Times New Roman"/>
              </a:defRPr>
            </a:pPr>
            <a:r>
              <a:rPr dirty="0"/>
              <a:t>Executive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40" y="2039111"/>
            <a:ext cx="4572000" cy="29260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Total Stations: 10K</a:t>
            </a:r>
          </a:p>
          <a:p>
            <a:pPr>
              <a:spcAft>
                <a:spcPts val="7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Operational Stations: 9K</a:t>
            </a:r>
          </a:p>
          <a:p>
            <a:pPr>
              <a:spcAft>
                <a:spcPts val="7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Non Operational Stations: 626</a:t>
            </a:r>
          </a:p>
          <a:p>
            <a:pPr>
              <a:spcAft>
                <a:spcPts val="7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Operational %: 93.46%</a:t>
            </a:r>
          </a:p>
          <a:p>
            <a:pPr>
              <a:spcAft>
                <a:spcPts val="7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Total Connectors: 14K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25880"/>
            <a:ext cx="53492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435607"/>
            <a:ext cx="50200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070B8"/>
                </a:solidFill>
                <a:latin typeface="Times New Roman"/>
              </a:defRPr>
            </a:pPr>
            <a:r>
              <a:t>Station Details Regional 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93407" y="2057399"/>
            <a:ext cx="4663440" cy="32004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Regional total: 9,570 stations</a:t>
            </a:r>
          </a:p>
          <a:p>
            <a:pPr>
              <a:spcAft>
                <a:spcPts val="7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Operational: 8,944</a:t>
            </a:r>
          </a:p>
          <a:p>
            <a:pPr>
              <a:spcAft>
                <a:spcPts val="7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Non Operational: 626</a:t>
            </a:r>
          </a:p>
          <a:p>
            <a:pPr>
              <a:spcAft>
                <a:spcPts val="7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The non-operational count matches the overview.</a:t>
            </a:r>
          </a:p>
          <a:p>
            <a:pPr>
              <a:spcAft>
                <a:spcPts val="7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The total differs from the 10K headline, so filter/context consistency should be checked.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1168" y="137160"/>
            <a:ext cx="11786616" cy="6537960"/>
          </a:xfrm>
          <a:prstGeom prst="rect">
            <a:avLst/>
          </a:prstGeom>
          <a:noFill/>
          <a:ln w="11430">
            <a:solidFill>
              <a:srgbClr val="00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01168" y="6336792"/>
            <a:ext cx="11786616" cy="338328"/>
          </a:xfrm>
          <a:prstGeom prst="rect">
            <a:avLst/>
          </a:prstGeom>
          <a:solidFill>
            <a:srgbClr val="00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321040" y="6419088"/>
            <a:ext cx="3200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Times New Roman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Business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05050"/>
                </a:solidFill>
                <a:latin typeface="Times New Roman"/>
              </a:defRPr>
            </a:pPr>
            <a:r>
              <a:t>How the dashboard supports analysis and decision-making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17320"/>
            <a:ext cx="35204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1527048"/>
            <a:ext cx="31912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070B8"/>
                </a:solidFill>
                <a:latin typeface="Times New Roman"/>
              </a:defRPr>
            </a:pPr>
            <a:r>
              <a:t>Infrastructure Planning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74519"/>
            <a:ext cx="2926080" cy="31089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• Compare countries and regions</a:t>
            </a:r>
          </a:p>
          <a:p>
            <a:pPr>
              <a:spcAft>
                <a:spcPts val="7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• Analyze capacity distribution</a:t>
            </a:r>
          </a:p>
          <a:p>
            <a:pPr>
              <a:spcAft>
                <a:spcPts val="7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• Identify areas for further investigation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417320"/>
            <a:ext cx="35204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07992" y="1527048"/>
            <a:ext cx="31912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070B8"/>
                </a:solidFill>
                <a:latin typeface="Times New Roman"/>
              </a:defRPr>
            </a:pPr>
            <a:r>
              <a:t>Operator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874519"/>
            <a:ext cx="2926080" cy="31089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• Compare operator station counts</a:t>
            </a:r>
          </a:p>
          <a:p>
            <a:pPr>
              <a:spcAft>
                <a:spcPts val="7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• Understand operator concentration</a:t>
            </a:r>
          </a:p>
          <a:p>
            <a:pPr>
              <a:spcAft>
                <a:spcPts val="7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• Identify unknown operator 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417320"/>
            <a:ext cx="35204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57031" y="1527048"/>
            <a:ext cx="31912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070B8"/>
                </a:solidFill>
                <a:latin typeface="Times New Roman"/>
              </a:defRPr>
            </a:pPr>
            <a:r>
              <a:t>Operational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1874519"/>
            <a:ext cx="2926080" cy="31089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• Monitor operational status</a:t>
            </a:r>
          </a:p>
          <a:p>
            <a:pPr>
              <a:spcAft>
                <a:spcPts val="7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• Compare regional performance</a:t>
            </a:r>
          </a:p>
          <a:p>
            <a:pPr>
              <a:spcAft>
                <a:spcPts val="7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• Investigate station-level records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1168" y="137160"/>
            <a:ext cx="11786616" cy="6537960"/>
          </a:xfrm>
          <a:prstGeom prst="rect">
            <a:avLst/>
          </a:prstGeom>
          <a:noFill/>
          <a:ln w="11430">
            <a:solidFill>
              <a:srgbClr val="00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01168" y="6336792"/>
            <a:ext cx="11786616" cy="338328"/>
          </a:xfrm>
          <a:prstGeom prst="rect">
            <a:avLst/>
          </a:prstGeom>
          <a:solidFill>
            <a:srgbClr val="00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321040" y="6419088"/>
            <a:ext cx="3200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Times New Roman"/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Future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05050"/>
                </a:solidFill>
                <a:latin typeface="Times New Roman"/>
              </a:defRPr>
            </a:pPr>
            <a:r>
              <a:t>Potential extensions beyond the current 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53949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1435607"/>
            <a:ext cx="50657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070B8"/>
                </a:solidFill>
                <a:latin typeface="Times New Roman"/>
              </a:defRPr>
            </a:pPr>
            <a:r>
              <a:t>Advanced 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4709160" cy="374903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000000"/>
                </a:solidFill>
                <a:latin typeface="Times New Roman"/>
              </a:defRPr>
            </a:pPr>
            <a:r>
              <a:t>• Real-time charging station APIs</a:t>
            </a:r>
          </a:p>
          <a:p>
            <a:pPr>
              <a:spcAft>
                <a:spcPts val="700"/>
              </a:spcAft>
              <a:defRPr sz="1700">
                <a:solidFill>
                  <a:srgbClr val="000000"/>
                </a:solidFill>
                <a:latin typeface="Times New Roman"/>
              </a:defRPr>
            </a:pPr>
            <a:r>
              <a:t>• Charging power and AC/DC analysis</a:t>
            </a:r>
          </a:p>
          <a:p>
            <a:pPr>
              <a:spcAft>
                <a:spcPts val="700"/>
              </a:spcAft>
              <a:defRPr sz="1700">
                <a:solidFill>
                  <a:srgbClr val="000000"/>
                </a:solidFill>
                <a:latin typeface="Times New Roman"/>
              </a:defRPr>
            </a:pPr>
            <a:r>
              <a:t>• EV registrations and population integration</a:t>
            </a:r>
          </a:p>
          <a:p>
            <a:pPr>
              <a:spcAft>
                <a:spcPts val="700"/>
              </a:spcAft>
              <a:defRPr sz="1700">
                <a:solidFill>
                  <a:srgbClr val="000000"/>
                </a:solidFill>
                <a:latin typeface="Times New Roman"/>
              </a:defRPr>
            </a:pPr>
            <a:r>
              <a:t>• Predictive charging-demand analysis</a:t>
            </a:r>
          </a:p>
          <a:p>
            <a:pPr>
              <a:spcAft>
                <a:spcPts val="700"/>
              </a:spcAft>
              <a:defRPr sz="1700">
                <a:solidFill>
                  <a:srgbClr val="000000"/>
                </a:solidFill>
                <a:latin typeface="Times New Roman"/>
              </a:defRPr>
            </a:pPr>
            <a:r>
              <a:t>• Geographic optimization for new locations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25880"/>
            <a:ext cx="53949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435607"/>
            <a:ext cx="50657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070B8"/>
                </a:solidFill>
                <a:latin typeface="Times New Roman"/>
              </a:defRPr>
            </a:pPr>
            <a:r>
              <a:t>Dashboard Enhancements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783080"/>
            <a:ext cx="4709160" cy="374903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000000"/>
                </a:solidFill>
                <a:latin typeface="Times New Roman"/>
              </a:defRPr>
            </a:pPr>
            <a:r>
              <a:t>• Automated refresh</a:t>
            </a:r>
          </a:p>
          <a:p>
            <a:pPr>
              <a:spcAft>
                <a:spcPts val="700"/>
              </a:spcAft>
              <a:defRPr sz="1700">
                <a:solidFill>
                  <a:srgbClr val="000000"/>
                </a:solidFill>
                <a:latin typeface="Times New Roman"/>
              </a:defRPr>
            </a:pPr>
            <a:r>
              <a:t>• Station utilization and availability trends</a:t>
            </a:r>
          </a:p>
          <a:p>
            <a:pPr>
              <a:spcAft>
                <a:spcPts val="700"/>
              </a:spcAft>
              <a:defRPr sz="1700">
                <a:solidFill>
                  <a:srgbClr val="000000"/>
                </a:solidFill>
                <a:latin typeface="Times New Roman"/>
              </a:defRPr>
            </a:pPr>
            <a:r>
              <a:t>• Distance-to-nearest-station analysis</a:t>
            </a:r>
          </a:p>
          <a:p>
            <a:pPr>
              <a:spcAft>
                <a:spcPts val="700"/>
              </a:spcAft>
              <a:defRPr sz="1700">
                <a:solidFill>
                  <a:srgbClr val="000000"/>
                </a:solidFill>
                <a:latin typeface="Times New Roman"/>
              </a:defRPr>
            </a:pPr>
            <a:r>
              <a:t>• Operator reliability and growth analysis</a:t>
            </a:r>
          </a:p>
          <a:p>
            <a:pPr>
              <a:spcAft>
                <a:spcPts val="700"/>
              </a:spcAft>
              <a:defRPr sz="1700">
                <a:solidFill>
                  <a:srgbClr val="000000"/>
                </a:solidFill>
                <a:latin typeface="Times New Roman"/>
              </a:defRPr>
            </a:pPr>
            <a:r>
              <a:t>• Infrastructure expansion recommendations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1168" y="137160"/>
            <a:ext cx="11786616" cy="6537960"/>
          </a:xfrm>
          <a:prstGeom prst="rect">
            <a:avLst/>
          </a:prstGeom>
          <a:noFill/>
          <a:ln w="11430">
            <a:solidFill>
              <a:srgbClr val="00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01168" y="6336792"/>
            <a:ext cx="11786616" cy="338328"/>
          </a:xfrm>
          <a:prstGeom prst="rect">
            <a:avLst/>
          </a:prstGeom>
          <a:solidFill>
            <a:srgbClr val="00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321040" y="6419088"/>
            <a:ext cx="3200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Times New Roman"/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05050"/>
                </a:solidFill>
                <a:latin typeface="Times New Roman"/>
              </a:defRPr>
            </a:pPr>
            <a:r>
              <a:t>Summary of the completed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108356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80160" y="1970532"/>
            <a:ext cx="9966960" cy="35661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The project transforms raw EV charging station data into an interactive Power BI intelligence dashboard.</a:t>
            </a:r>
          </a:p>
          <a:p>
            <a:pPr>
              <a:spcAft>
                <a:spcPts val="700"/>
              </a:spcAft>
              <a:defRPr sz="17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Power Query and M Language clean, standardize and transform the dataset.</a:t>
            </a:r>
          </a:p>
          <a:p>
            <a:pPr>
              <a:spcAft>
                <a:spcPts val="700"/>
              </a:spcAft>
              <a:defRPr sz="17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DAX calculated columns and measures create meaningful analytical indicators.</a:t>
            </a:r>
          </a:p>
          <a:p>
            <a:pPr>
              <a:spcAft>
                <a:spcPts val="700"/>
              </a:spcAft>
              <a:defRPr sz="17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The three pages provide executive overview, infrastructure comparison and station-level investigation.</a:t>
            </a:r>
          </a:p>
          <a:p>
            <a:pPr>
              <a:spcAft>
                <a:spcPts val="700"/>
              </a:spcAft>
              <a:defRPr sz="17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The dashboard highlights high operational availability, strong North American concentration, Canada as the leading displayed country, Circuit Electrique as the leading displayed operator, and dominance of small stations.</a:t>
            </a:r>
          </a:p>
          <a:p>
            <a:pPr>
              <a:spcAft>
                <a:spcPts val="700"/>
              </a:spcAft>
              <a:defRPr sz="17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• The solution provides a foundation for future real-time, predictive and geographic EV infrastructure analytics.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893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70B8"/>
                </a:solidFill>
                <a:latin typeface="Times New Roman"/>
              </a:defRPr>
            </a:pPr>
            <a:r>
              <a:rPr dirty="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1089</Words>
  <Application>Microsoft Office PowerPoint</Application>
  <PresentationFormat>Widescreen</PresentationFormat>
  <Paragraphs>222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Atharv Suryavanshi</cp:lastModifiedBy>
  <cp:revision>9</cp:revision>
  <dcterms:created xsi:type="dcterms:W3CDTF">2013-01-27T09:14:16Z</dcterms:created>
  <dcterms:modified xsi:type="dcterms:W3CDTF">2026-08-13T04:55:10Z</dcterms:modified>
  <cp:category/>
</cp:coreProperties>
</file>